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5.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Lst>
  <p:sldSz cy="5143500" cx="9144000"/>
  <p:notesSz cx="6858000" cy="9144000"/>
  <p:embeddedFontLst>
    <p:embeddedFont>
      <p:font typeface="Plus Jakarta Sans ExtraBold"/>
      <p:bold r:id="rId12"/>
      <p:boldItalic r:id="rId13"/>
    </p:embeddedFont>
    <p:embeddedFont>
      <p:font typeface="Sora"/>
      <p:regular r:id="rId14"/>
      <p:bold r:id="rId15"/>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font" Target="fonts/PlusJakartaSansExtraBold-boldItalic.fntdata"/><Relationship Id="rId12" Type="http://schemas.openxmlformats.org/officeDocument/2006/relationships/font" Target="fonts/PlusJakartaSansExtraBold-bold.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font" Target="fonts/Sora-bold.fntdata"/><Relationship Id="rId14" Type="http://schemas.openxmlformats.org/officeDocument/2006/relationships/font" Target="fonts/Sora-regular.fnt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 name="Shape 57"/>
        <p:cNvGrpSpPr/>
        <p:nvPr/>
      </p:nvGrpSpPr>
      <p:grpSpPr>
        <a:xfrm>
          <a:off x="0" y="0"/>
          <a:ext cx="0" cy="0"/>
          <a:chOff x="0" y="0"/>
          <a:chExt cx="0" cy="0"/>
        </a:xfrm>
      </p:grpSpPr>
      <p:sp>
        <p:nvSpPr>
          <p:cNvPr id="58" name="Google Shape;58;g3f95bcfa62c_1_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9" name="Google Shape;59;g3f95bcfa62c_1_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 name="Shape 66"/>
        <p:cNvGrpSpPr/>
        <p:nvPr/>
      </p:nvGrpSpPr>
      <p:grpSpPr>
        <a:xfrm>
          <a:off x="0" y="0"/>
          <a:ext cx="0" cy="0"/>
          <a:chOff x="0" y="0"/>
          <a:chExt cx="0" cy="0"/>
        </a:xfrm>
      </p:grpSpPr>
      <p:sp>
        <p:nvSpPr>
          <p:cNvPr id="67" name="Google Shape;67;g3f95bcfa62c_1_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8" name="Google Shape;68;g3f95bcfa62c_1_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 name="Shape 87"/>
        <p:cNvGrpSpPr/>
        <p:nvPr/>
      </p:nvGrpSpPr>
      <p:grpSpPr>
        <a:xfrm>
          <a:off x="0" y="0"/>
          <a:ext cx="0" cy="0"/>
          <a:chOff x="0" y="0"/>
          <a:chExt cx="0" cy="0"/>
        </a:xfrm>
      </p:grpSpPr>
      <p:sp>
        <p:nvSpPr>
          <p:cNvPr id="88" name="Google Shape;88;g3f95bcfa62c_2_10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9" name="Google Shape;89;g3f95bcfa62c_2_10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 name="Shape 96"/>
        <p:cNvGrpSpPr/>
        <p:nvPr/>
      </p:nvGrpSpPr>
      <p:grpSpPr>
        <a:xfrm>
          <a:off x="0" y="0"/>
          <a:ext cx="0" cy="0"/>
          <a:chOff x="0" y="0"/>
          <a:chExt cx="0" cy="0"/>
        </a:xfrm>
      </p:grpSpPr>
      <p:sp>
        <p:nvSpPr>
          <p:cNvPr id="97" name="Google Shape;97;g3f95bcfa62c_1_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8" name="Google Shape;98;g3f95bcfa62c_1_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 name="Shape 119"/>
        <p:cNvGrpSpPr/>
        <p:nvPr/>
      </p:nvGrpSpPr>
      <p:grpSpPr>
        <a:xfrm>
          <a:off x="0" y="0"/>
          <a:ext cx="0" cy="0"/>
          <a:chOff x="0" y="0"/>
          <a:chExt cx="0" cy="0"/>
        </a:xfrm>
      </p:grpSpPr>
      <p:sp>
        <p:nvSpPr>
          <p:cNvPr id="120" name="Google Shape;120;g3f95bcfa62c_2_1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1" name="Google Shape;121;g3f95bcfa62c_2_1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4.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4.png"/><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3.png"/><Relationship Id="rId4" Type="http://schemas.openxmlformats.org/officeDocument/2006/relationships/image" Target="../media/image4.png"/><Relationship Id="rId5"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4.png"/><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4.png"/><Relationship Id="rId4" Type="http://schemas.openxmlformats.org/officeDocument/2006/relationships/image" Target="../media/image2.png"/><Relationship Id="rId5"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4.png"/><Relationship Id="rId4" Type="http://schemas.openxmlformats.org/officeDocument/2006/relationships/image" Target="../media/image2.png"/><Relationship Id="rId5"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pic>
        <p:nvPicPr>
          <p:cNvPr id="54" name="Google Shape;54;p13" title="artistic-blurry-colorful-wallpaper-background.jpg"/>
          <p:cNvPicPr preferRelativeResize="0"/>
          <p:nvPr/>
        </p:nvPicPr>
        <p:blipFill>
          <a:blip r:embed="rId3">
            <a:alphaModFix/>
          </a:blip>
          <a:stretch>
            <a:fillRect/>
          </a:stretch>
        </p:blipFill>
        <p:spPr>
          <a:xfrm>
            <a:off x="0" y="0"/>
            <a:ext cx="9144003" cy="5143502"/>
          </a:xfrm>
          <a:prstGeom prst="rect">
            <a:avLst/>
          </a:prstGeom>
          <a:noFill/>
          <a:ln>
            <a:noFill/>
          </a:ln>
        </p:spPr>
      </p:pic>
      <p:pic>
        <p:nvPicPr>
          <p:cNvPr id="55" name="Google Shape;55;p13" title="kepiai_LOGO_WHITE.png"/>
          <p:cNvPicPr preferRelativeResize="0"/>
          <p:nvPr/>
        </p:nvPicPr>
        <p:blipFill>
          <a:blip r:embed="rId4">
            <a:alphaModFix/>
          </a:blip>
          <a:stretch>
            <a:fillRect/>
          </a:stretch>
        </p:blipFill>
        <p:spPr>
          <a:xfrm>
            <a:off x="1854925" y="1794323"/>
            <a:ext cx="5434148" cy="1554854"/>
          </a:xfrm>
          <a:prstGeom prst="rect">
            <a:avLst/>
          </a:prstGeom>
          <a:noFill/>
          <a:ln>
            <a:noFill/>
          </a:ln>
        </p:spPr>
      </p:pic>
      <p:sp>
        <p:nvSpPr>
          <p:cNvPr id="56" name="Google Shape;56;p13"/>
          <p:cNvSpPr txBox="1"/>
          <p:nvPr/>
        </p:nvSpPr>
        <p:spPr>
          <a:xfrm>
            <a:off x="2201675" y="3264850"/>
            <a:ext cx="5209200" cy="461700"/>
          </a:xfrm>
          <a:prstGeom prst="rect">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None/>
            </a:pPr>
            <a:r>
              <a:rPr lang="en" sz="1200">
                <a:solidFill>
                  <a:srgbClr val="FFFFFF"/>
                </a:solidFill>
                <a:latin typeface="Sora"/>
                <a:ea typeface="Sora"/>
                <a:cs typeface="Sora"/>
                <a:sym typeface="Sora"/>
              </a:rPr>
              <a:t>Webpage Revision Guideline</a:t>
            </a:r>
            <a:endParaRPr sz="1200">
              <a:solidFill>
                <a:srgbClr val="FFFFFF"/>
              </a:solidFill>
              <a:latin typeface="Sora"/>
              <a:ea typeface="Sora"/>
              <a:cs typeface="Sora"/>
              <a:sym typeface="Sora"/>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 name="Shape 60"/>
        <p:cNvGrpSpPr/>
        <p:nvPr/>
      </p:nvGrpSpPr>
      <p:grpSpPr>
        <a:xfrm>
          <a:off x="0" y="0"/>
          <a:ext cx="0" cy="0"/>
          <a:chOff x="0" y="0"/>
          <a:chExt cx="0" cy="0"/>
        </a:xfrm>
      </p:grpSpPr>
      <p:pic>
        <p:nvPicPr>
          <p:cNvPr id="61" name="Google Shape;61;p14" title="artistic-blurry-colorful-wallpaper-background.jpg"/>
          <p:cNvPicPr preferRelativeResize="0"/>
          <p:nvPr/>
        </p:nvPicPr>
        <p:blipFill>
          <a:blip r:embed="rId3">
            <a:alphaModFix/>
          </a:blip>
          <a:stretch>
            <a:fillRect/>
          </a:stretch>
        </p:blipFill>
        <p:spPr>
          <a:xfrm>
            <a:off x="0" y="0"/>
            <a:ext cx="9144003" cy="342902"/>
          </a:xfrm>
          <a:prstGeom prst="rect">
            <a:avLst/>
          </a:prstGeom>
          <a:noFill/>
          <a:ln>
            <a:noFill/>
          </a:ln>
        </p:spPr>
      </p:pic>
      <p:pic>
        <p:nvPicPr>
          <p:cNvPr id="62" name="Google Shape;62;p14" title="kepiai_LOGO_WHITE.png"/>
          <p:cNvPicPr preferRelativeResize="0"/>
          <p:nvPr/>
        </p:nvPicPr>
        <p:blipFill>
          <a:blip r:embed="rId4">
            <a:alphaModFix/>
          </a:blip>
          <a:stretch>
            <a:fillRect/>
          </a:stretch>
        </p:blipFill>
        <p:spPr>
          <a:xfrm>
            <a:off x="126807" y="50212"/>
            <a:ext cx="847452" cy="242475"/>
          </a:xfrm>
          <a:prstGeom prst="rect">
            <a:avLst/>
          </a:prstGeom>
          <a:noFill/>
          <a:ln>
            <a:noFill/>
          </a:ln>
        </p:spPr>
      </p:pic>
      <p:sp>
        <p:nvSpPr>
          <p:cNvPr id="63" name="Google Shape;63;p14"/>
          <p:cNvSpPr/>
          <p:nvPr/>
        </p:nvSpPr>
        <p:spPr>
          <a:xfrm>
            <a:off x="1094025" y="59000"/>
            <a:ext cx="6465300" cy="234900"/>
          </a:xfrm>
          <a:prstGeom prst="roundRect">
            <a:avLst>
              <a:gd fmla="val 50000" name="adj"/>
            </a:avLst>
          </a:prstGeom>
          <a:noFill/>
          <a:ln cap="flat" cmpd="sng" w="9525">
            <a:solidFill>
              <a:srgbClr val="FFF7E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700">
                <a:solidFill>
                  <a:srgbClr val="FFFFFF"/>
                </a:solidFill>
                <a:latin typeface="Sora"/>
                <a:ea typeface="Sora"/>
                <a:cs typeface="Sora"/>
                <a:sym typeface="Sora"/>
              </a:rPr>
              <a:t>FAQ</a:t>
            </a:r>
            <a:endParaRPr b="1" sz="700">
              <a:solidFill>
                <a:srgbClr val="FFFFFF"/>
              </a:solidFill>
              <a:latin typeface="Sora"/>
              <a:ea typeface="Sora"/>
              <a:cs typeface="Sora"/>
              <a:sym typeface="Sora"/>
            </a:endParaRPr>
          </a:p>
        </p:txBody>
      </p:sp>
      <p:sp>
        <p:nvSpPr>
          <p:cNvPr id="64" name="Google Shape;64;p14"/>
          <p:cNvSpPr/>
          <p:nvPr/>
        </p:nvSpPr>
        <p:spPr>
          <a:xfrm>
            <a:off x="65300" y="416375"/>
            <a:ext cx="8997000" cy="4604700"/>
          </a:xfrm>
          <a:prstGeom prst="roundRect">
            <a:avLst>
              <a:gd fmla="val 4965" name="adj"/>
            </a:avLst>
          </a:prstGeom>
          <a:solidFill>
            <a:srgbClr val="02000E"/>
          </a:solidFill>
          <a:ln cap="flat" cmpd="sng" w="9525">
            <a:solidFill>
              <a:srgbClr val="232AAC"/>
            </a:solidFill>
            <a:prstDash val="solid"/>
            <a:round/>
            <a:headEnd len="sm" w="sm" type="none"/>
            <a:tailEnd len="sm" w="sm" type="none"/>
          </a:ln>
        </p:spPr>
        <p:txBody>
          <a:bodyPr anchorCtr="0" anchor="ctr" bIns="91425" lIns="91425" spcFirstLastPara="1" rIns="91425" wrap="square" tIns="91425">
            <a:noAutofit/>
          </a:bodyPr>
          <a:lstStyle/>
          <a:p>
            <a:pPr indent="-330200" lvl="0" marL="457200" rtl="0" algn="l">
              <a:lnSpc>
                <a:spcPct val="115000"/>
              </a:lnSpc>
              <a:spcBef>
                <a:spcPts val="1200"/>
              </a:spcBef>
              <a:spcAft>
                <a:spcPts val="0"/>
              </a:spcAft>
              <a:buClr>
                <a:srgbClr val="FFFFFF"/>
              </a:buClr>
              <a:buSzPts val="1600"/>
              <a:buFont typeface="Sora"/>
              <a:buAutoNum type="arabicPeriod"/>
            </a:pPr>
            <a:r>
              <a:rPr b="1" lang="en" sz="1600">
                <a:solidFill>
                  <a:srgbClr val="FFFFFF"/>
                </a:solidFill>
                <a:latin typeface="Sora"/>
                <a:ea typeface="Sora"/>
                <a:cs typeface="Sora"/>
                <a:sym typeface="Sora"/>
              </a:rPr>
              <a:t>Web Flow:</a:t>
            </a:r>
            <a:r>
              <a:rPr lang="en" sz="1600">
                <a:solidFill>
                  <a:srgbClr val="FFFFFF"/>
                </a:solidFill>
                <a:latin typeface="Sora"/>
                <a:ea typeface="Sora"/>
                <a:cs typeface="Sora"/>
                <a:sym typeface="Sora"/>
              </a:rPr>
              <a:t> The user journey should be </a:t>
            </a:r>
            <a:r>
              <a:rPr b="1" lang="en" sz="1600">
                <a:solidFill>
                  <a:srgbClr val="FFFFFF"/>
                </a:solidFill>
                <a:latin typeface="Sora"/>
                <a:ea typeface="Sora"/>
                <a:cs typeface="Sora"/>
                <a:sym typeface="Sora"/>
              </a:rPr>
              <a:t>Login Page → Welcome Page</a:t>
            </a:r>
            <a:r>
              <a:rPr lang="en" sz="1600">
                <a:solidFill>
                  <a:srgbClr val="FFFFFF"/>
                </a:solidFill>
                <a:latin typeface="Sora"/>
                <a:ea typeface="Sora"/>
                <a:cs typeface="Sora"/>
                <a:sym typeface="Sora"/>
              </a:rPr>
              <a:t> after a successful login.</a:t>
            </a:r>
            <a:endParaRPr sz="1600">
              <a:solidFill>
                <a:srgbClr val="FFFFFF"/>
              </a:solidFill>
              <a:latin typeface="Sora"/>
              <a:ea typeface="Sora"/>
              <a:cs typeface="Sora"/>
              <a:sym typeface="Sora"/>
            </a:endParaRPr>
          </a:p>
          <a:p>
            <a:pPr indent="-330200" lvl="0" marL="457200" rtl="0" algn="l">
              <a:lnSpc>
                <a:spcPct val="115000"/>
              </a:lnSpc>
              <a:spcBef>
                <a:spcPts val="0"/>
              </a:spcBef>
              <a:spcAft>
                <a:spcPts val="0"/>
              </a:spcAft>
              <a:buClr>
                <a:srgbClr val="FFFFFF"/>
              </a:buClr>
              <a:buSzPts val="1600"/>
              <a:buFont typeface="Sora"/>
              <a:buAutoNum type="arabicPeriod"/>
            </a:pPr>
            <a:r>
              <a:rPr b="1" lang="en" sz="1600">
                <a:solidFill>
                  <a:srgbClr val="FFFFFF"/>
                </a:solidFill>
                <a:latin typeface="Sora"/>
                <a:ea typeface="Sora"/>
                <a:cs typeface="Sora"/>
                <a:sym typeface="Sora"/>
              </a:rPr>
              <a:t>Revision Scope:</a:t>
            </a:r>
            <a:r>
              <a:rPr lang="en" sz="1600">
                <a:solidFill>
                  <a:srgbClr val="FFFFFF"/>
                </a:solidFill>
                <a:latin typeface="Sora"/>
                <a:ea typeface="Sora"/>
                <a:cs typeface="Sora"/>
                <a:sym typeface="Sora"/>
              </a:rPr>
              <a:t> Please focus the revisions on the areas highlighted with numbered boxes. The numbers serve as references for the corresponding notes and explanations.</a:t>
            </a:r>
            <a:endParaRPr sz="1600">
              <a:solidFill>
                <a:srgbClr val="FFFFFF"/>
              </a:solidFill>
              <a:latin typeface="Sora"/>
              <a:ea typeface="Sora"/>
              <a:cs typeface="Sora"/>
              <a:sym typeface="Sora"/>
            </a:endParaRPr>
          </a:p>
        </p:txBody>
      </p:sp>
      <p:sp>
        <p:nvSpPr>
          <p:cNvPr id="65" name="Google Shape;65;p14"/>
          <p:cNvSpPr txBox="1"/>
          <p:nvPr/>
        </p:nvSpPr>
        <p:spPr>
          <a:xfrm>
            <a:off x="7272518" y="45291"/>
            <a:ext cx="1822500" cy="252300"/>
          </a:xfrm>
          <a:prstGeom prst="rect">
            <a:avLst/>
          </a:prstGeom>
          <a:noFill/>
          <a:ln>
            <a:noFill/>
          </a:ln>
        </p:spPr>
        <p:txBody>
          <a:bodyPr anchorCtr="0" anchor="t" bIns="91425" lIns="0" spcFirstLastPara="1" rIns="91425" wrap="square" tIns="91425">
            <a:spAutoFit/>
          </a:bodyPr>
          <a:lstStyle/>
          <a:p>
            <a:pPr indent="0" lvl="0" marL="0" rtl="0" algn="r">
              <a:lnSpc>
                <a:spcPct val="80000"/>
              </a:lnSpc>
              <a:spcBef>
                <a:spcPts val="0"/>
              </a:spcBef>
              <a:spcAft>
                <a:spcPts val="0"/>
              </a:spcAft>
              <a:buNone/>
            </a:pPr>
            <a:r>
              <a:rPr lang="en" sz="550">
                <a:solidFill>
                  <a:srgbClr val="FFFFFF"/>
                </a:solidFill>
                <a:latin typeface="Plus Jakarta Sans ExtraBold"/>
                <a:ea typeface="Plus Jakarta Sans ExtraBold"/>
                <a:cs typeface="Plus Jakarta Sans ExtraBold"/>
                <a:sym typeface="Plus Jakarta Sans ExtraBold"/>
              </a:rPr>
              <a:t>TOOLS WEBPAGE REVISION GUIDELINE</a:t>
            </a:r>
            <a:endParaRPr sz="550">
              <a:solidFill>
                <a:srgbClr val="FFFFFF"/>
              </a:solidFill>
              <a:latin typeface="Plus Jakarta Sans ExtraBold"/>
              <a:ea typeface="Plus Jakarta Sans ExtraBold"/>
              <a:cs typeface="Plus Jakarta Sans ExtraBold"/>
              <a:sym typeface="Plus Jakarta Sans ExtraBold"/>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 name="Shape 69"/>
        <p:cNvGrpSpPr/>
        <p:nvPr/>
      </p:nvGrpSpPr>
      <p:grpSpPr>
        <a:xfrm>
          <a:off x="0" y="0"/>
          <a:ext cx="0" cy="0"/>
          <a:chOff x="0" y="0"/>
          <a:chExt cx="0" cy="0"/>
        </a:xfrm>
      </p:grpSpPr>
      <p:pic>
        <p:nvPicPr>
          <p:cNvPr id="70" name="Google Shape;70;p15"/>
          <p:cNvPicPr preferRelativeResize="0"/>
          <p:nvPr/>
        </p:nvPicPr>
        <p:blipFill>
          <a:blip r:embed="rId3">
            <a:alphaModFix/>
          </a:blip>
          <a:stretch>
            <a:fillRect/>
          </a:stretch>
        </p:blipFill>
        <p:spPr>
          <a:xfrm>
            <a:off x="152401" y="495300"/>
            <a:ext cx="6125926" cy="3478739"/>
          </a:xfrm>
          <a:prstGeom prst="rect">
            <a:avLst/>
          </a:prstGeom>
          <a:noFill/>
          <a:ln>
            <a:noFill/>
          </a:ln>
          <a:effectLst>
            <a:outerShdw blurRad="57150" rotWithShape="0" algn="bl" dir="5400000" dist="19050">
              <a:srgbClr val="000000">
                <a:alpha val="50000"/>
              </a:srgbClr>
            </a:outerShdw>
          </a:effectLst>
        </p:spPr>
      </p:pic>
      <p:pic>
        <p:nvPicPr>
          <p:cNvPr id="71" name="Google Shape;71;p15" title="artistic-blurry-colorful-wallpaper-background.jpg"/>
          <p:cNvPicPr preferRelativeResize="0"/>
          <p:nvPr/>
        </p:nvPicPr>
        <p:blipFill>
          <a:blip r:embed="rId4">
            <a:alphaModFix/>
          </a:blip>
          <a:stretch>
            <a:fillRect/>
          </a:stretch>
        </p:blipFill>
        <p:spPr>
          <a:xfrm>
            <a:off x="0" y="0"/>
            <a:ext cx="9144003" cy="342902"/>
          </a:xfrm>
          <a:prstGeom prst="rect">
            <a:avLst/>
          </a:prstGeom>
          <a:noFill/>
          <a:ln>
            <a:noFill/>
          </a:ln>
        </p:spPr>
      </p:pic>
      <p:pic>
        <p:nvPicPr>
          <p:cNvPr id="72" name="Google Shape;72;p15" title="kepiai_LOGO_WHITE.png"/>
          <p:cNvPicPr preferRelativeResize="0"/>
          <p:nvPr/>
        </p:nvPicPr>
        <p:blipFill>
          <a:blip r:embed="rId5">
            <a:alphaModFix/>
          </a:blip>
          <a:stretch>
            <a:fillRect/>
          </a:stretch>
        </p:blipFill>
        <p:spPr>
          <a:xfrm>
            <a:off x="126807" y="50212"/>
            <a:ext cx="847452" cy="242475"/>
          </a:xfrm>
          <a:prstGeom prst="rect">
            <a:avLst/>
          </a:prstGeom>
          <a:noFill/>
          <a:ln>
            <a:noFill/>
          </a:ln>
        </p:spPr>
      </p:pic>
      <p:sp>
        <p:nvSpPr>
          <p:cNvPr id="73" name="Google Shape;73;p15"/>
          <p:cNvSpPr/>
          <p:nvPr/>
        </p:nvSpPr>
        <p:spPr>
          <a:xfrm>
            <a:off x="1094025" y="59000"/>
            <a:ext cx="6465300" cy="234900"/>
          </a:xfrm>
          <a:prstGeom prst="roundRect">
            <a:avLst>
              <a:gd fmla="val 50000" name="adj"/>
            </a:avLst>
          </a:prstGeom>
          <a:noFill/>
          <a:ln cap="flat" cmpd="sng" w="9525">
            <a:solidFill>
              <a:srgbClr val="FFF7E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700">
                <a:solidFill>
                  <a:srgbClr val="FFFFFF"/>
                </a:solidFill>
                <a:latin typeface="Sora"/>
                <a:ea typeface="Sora"/>
                <a:cs typeface="Sora"/>
                <a:sym typeface="Sora"/>
              </a:rPr>
              <a:t>LOGIN PAGE</a:t>
            </a:r>
            <a:r>
              <a:rPr b="1" lang="en" sz="700">
                <a:solidFill>
                  <a:schemeClr val="lt1"/>
                </a:solidFill>
                <a:latin typeface="Sora"/>
                <a:ea typeface="Sora"/>
                <a:cs typeface="Sora"/>
                <a:sym typeface="Sora"/>
              </a:rPr>
              <a:t>: REVISION BRIEF</a:t>
            </a:r>
            <a:endParaRPr b="1" sz="700">
              <a:solidFill>
                <a:srgbClr val="FFFFFF"/>
              </a:solidFill>
              <a:latin typeface="Sora"/>
              <a:ea typeface="Sora"/>
              <a:cs typeface="Sora"/>
              <a:sym typeface="Sora"/>
            </a:endParaRPr>
          </a:p>
        </p:txBody>
      </p:sp>
      <p:sp>
        <p:nvSpPr>
          <p:cNvPr id="74" name="Google Shape;74;p15"/>
          <p:cNvSpPr/>
          <p:nvPr/>
        </p:nvSpPr>
        <p:spPr>
          <a:xfrm>
            <a:off x="126800" y="449025"/>
            <a:ext cx="3122700" cy="3616800"/>
          </a:xfrm>
          <a:prstGeom prst="rect">
            <a:avLst/>
          </a:prstGeom>
          <a:noFill/>
          <a:ln cap="flat" cmpd="sng" w="2857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5" name="Google Shape;75;p15"/>
          <p:cNvSpPr/>
          <p:nvPr/>
        </p:nvSpPr>
        <p:spPr>
          <a:xfrm>
            <a:off x="262875" y="1828800"/>
            <a:ext cx="2268000" cy="1200300"/>
          </a:xfrm>
          <a:prstGeom prst="rect">
            <a:avLst/>
          </a:prstGeom>
          <a:noFill/>
          <a:ln cap="flat" cmpd="sng" w="2857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6" name="Google Shape;76;p15"/>
          <p:cNvSpPr/>
          <p:nvPr/>
        </p:nvSpPr>
        <p:spPr>
          <a:xfrm>
            <a:off x="2857500" y="547025"/>
            <a:ext cx="310200" cy="310200"/>
          </a:xfrm>
          <a:prstGeom prst="ellipse">
            <a:avLst/>
          </a:prstGeom>
          <a:solidFill>
            <a:srgbClr val="FF0000"/>
          </a:solidFill>
          <a:ln cap="flat" cmpd="sng" w="9525">
            <a:solidFill>
              <a:srgbClr val="232AAC"/>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b="1" lang="en" sz="2400">
                <a:solidFill>
                  <a:srgbClr val="FFFFFF"/>
                </a:solidFill>
                <a:latin typeface="Sora"/>
                <a:ea typeface="Sora"/>
                <a:cs typeface="Sora"/>
                <a:sym typeface="Sora"/>
              </a:rPr>
              <a:t>1</a:t>
            </a:r>
            <a:endParaRPr b="1" sz="2400">
              <a:solidFill>
                <a:srgbClr val="FFFFFF"/>
              </a:solidFill>
              <a:latin typeface="Sora"/>
              <a:ea typeface="Sora"/>
              <a:cs typeface="Sora"/>
              <a:sym typeface="Sora"/>
            </a:endParaRPr>
          </a:p>
        </p:txBody>
      </p:sp>
      <p:sp>
        <p:nvSpPr>
          <p:cNvPr id="77" name="Google Shape;77;p15"/>
          <p:cNvSpPr/>
          <p:nvPr/>
        </p:nvSpPr>
        <p:spPr>
          <a:xfrm>
            <a:off x="2152650" y="1891425"/>
            <a:ext cx="310200" cy="310200"/>
          </a:xfrm>
          <a:prstGeom prst="ellipse">
            <a:avLst/>
          </a:prstGeom>
          <a:solidFill>
            <a:srgbClr val="FF0000"/>
          </a:solidFill>
          <a:ln cap="flat" cmpd="sng" w="9525">
            <a:solidFill>
              <a:srgbClr val="232AAC"/>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b="1" lang="en" sz="2400">
                <a:solidFill>
                  <a:srgbClr val="FFFFFF"/>
                </a:solidFill>
                <a:latin typeface="Sora"/>
                <a:ea typeface="Sora"/>
                <a:cs typeface="Sora"/>
                <a:sym typeface="Sora"/>
              </a:rPr>
              <a:t>2</a:t>
            </a:r>
            <a:endParaRPr b="1" sz="2400">
              <a:solidFill>
                <a:srgbClr val="FFFFFF"/>
              </a:solidFill>
              <a:latin typeface="Sora"/>
              <a:ea typeface="Sora"/>
              <a:cs typeface="Sora"/>
              <a:sym typeface="Sora"/>
            </a:endParaRPr>
          </a:p>
        </p:txBody>
      </p:sp>
      <p:sp>
        <p:nvSpPr>
          <p:cNvPr id="78" name="Google Shape;78;p15"/>
          <p:cNvSpPr/>
          <p:nvPr/>
        </p:nvSpPr>
        <p:spPr>
          <a:xfrm>
            <a:off x="6357250" y="547025"/>
            <a:ext cx="2737800" cy="1861500"/>
          </a:xfrm>
          <a:prstGeom prst="roundRect">
            <a:avLst>
              <a:gd fmla="val 5262" name="adj"/>
            </a:avLst>
          </a:prstGeom>
          <a:solidFill>
            <a:srgbClr val="FF0000"/>
          </a:solidFill>
          <a:ln cap="flat" cmpd="sng" w="9525">
            <a:solidFill>
              <a:srgbClr val="232AA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a:solidFill>
                  <a:srgbClr val="FFFFFF"/>
                </a:solidFill>
                <a:latin typeface="Sora"/>
                <a:ea typeface="Sora"/>
                <a:cs typeface="Sora"/>
                <a:sym typeface="Sora"/>
              </a:rPr>
              <a:t>Please update the background design for this section using the color gradient from the following slide.</a:t>
            </a:r>
            <a:endParaRPr b="1">
              <a:solidFill>
                <a:srgbClr val="FFFFFF"/>
              </a:solidFill>
              <a:latin typeface="Sora"/>
              <a:ea typeface="Sora"/>
              <a:cs typeface="Sora"/>
              <a:sym typeface="Sora"/>
            </a:endParaRPr>
          </a:p>
        </p:txBody>
      </p:sp>
      <p:sp>
        <p:nvSpPr>
          <p:cNvPr id="79" name="Google Shape;79;p15"/>
          <p:cNvSpPr/>
          <p:nvPr/>
        </p:nvSpPr>
        <p:spPr>
          <a:xfrm>
            <a:off x="8737025" y="595525"/>
            <a:ext cx="310200" cy="310200"/>
          </a:xfrm>
          <a:prstGeom prst="ellipse">
            <a:avLst/>
          </a:prstGeom>
          <a:solidFill>
            <a:srgbClr val="FF0000"/>
          </a:solidFill>
          <a:ln cap="flat" cmpd="sng" w="9525">
            <a:solidFill>
              <a:srgbClr val="232AAC"/>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b="1" lang="en" sz="2400">
                <a:solidFill>
                  <a:srgbClr val="FFFFFF"/>
                </a:solidFill>
                <a:latin typeface="Sora"/>
                <a:ea typeface="Sora"/>
                <a:cs typeface="Sora"/>
                <a:sym typeface="Sora"/>
              </a:rPr>
              <a:t>1</a:t>
            </a:r>
            <a:endParaRPr b="1" sz="2400">
              <a:solidFill>
                <a:srgbClr val="FFFFFF"/>
              </a:solidFill>
              <a:latin typeface="Sora"/>
              <a:ea typeface="Sora"/>
              <a:cs typeface="Sora"/>
              <a:sym typeface="Sora"/>
            </a:endParaRPr>
          </a:p>
        </p:txBody>
      </p:sp>
      <p:sp>
        <p:nvSpPr>
          <p:cNvPr id="80" name="Google Shape;80;p15"/>
          <p:cNvSpPr/>
          <p:nvPr/>
        </p:nvSpPr>
        <p:spPr>
          <a:xfrm>
            <a:off x="6357250" y="2452025"/>
            <a:ext cx="2737800" cy="2604600"/>
          </a:xfrm>
          <a:prstGeom prst="roundRect">
            <a:avLst>
              <a:gd fmla="val 5262" name="adj"/>
            </a:avLst>
          </a:prstGeom>
          <a:solidFill>
            <a:srgbClr val="FF0000"/>
          </a:solidFill>
          <a:ln cap="flat" cmpd="sng" w="9525">
            <a:solidFill>
              <a:srgbClr val="232AA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a:solidFill>
                  <a:srgbClr val="FFFFFF"/>
                </a:solidFill>
                <a:latin typeface="Sora"/>
                <a:ea typeface="Sora"/>
                <a:cs typeface="Sora"/>
                <a:sym typeface="Sora"/>
              </a:rPr>
              <a:t>Please update the copy from the blue box below using the provided material, and apply a color combination that aligns with KepiAi's brand guidelines.</a:t>
            </a:r>
            <a:endParaRPr b="1">
              <a:solidFill>
                <a:srgbClr val="FFFFFF"/>
              </a:solidFill>
              <a:latin typeface="Sora"/>
              <a:ea typeface="Sora"/>
              <a:cs typeface="Sora"/>
              <a:sym typeface="Sora"/>
            </a:endParaRPr>
          </a:p>
        </p:txBody>
      </p:sp>
      <p:sp>
        <p:nvSpPr>
          <p:cNvPr id="81" name="Google Shape;81;p15"/>
          <p:cNvSpPr/>
          <p:nvPr/>
        </p:nvSpPr>
        <p:spPr>
          <a:xfrm>
            <a:off x="8737025" y="2500525"/>
            <a:ext cx="310200" cy="310200"/>
          </a:xfrm>
          <a:prstGeom prst="ellipse">
            <a:avLst/>
          </a:prstGeom>
          <a:solidFill>
            <a:srgbClr val="FF0000"/>
          </a:solidFill>
          <a:ln cap="flat" cmpd="sng" w="9525">
            <a:solidFill>
              <a:srgbClr val="232AAC"/>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b="1" lang="en" sz="2400">
                <a:solidFill>
                  <a:srgbClr val="FFFFFF"/>
                </a:solidFill>
                <a:latin typeface="Sora"/>
                <a:ea typeface="Sora"/>
                <a:cs typeface="Sora"/>
                <a:sym typeface="Sora"/>
              </a:rPr>
              <a:t>2</a:t>
            </a:r>
            <a:endParaRPr b="1" sz="2400">
              <a:solidFill>
                <a:srgbClr val="FFFFFF"/>
              </a:solidFill>
              <a:latin typeface="Sora"/>
              <a:ea typeface="Sora"/>
              <a:cs typeface="Sora"/>
              <a:sym typeface="Sora"/>
            </a:endParaRPr>
          </a:p>
        </p:txBody>
      </p:sp>
      <p:sp>
        <p:nvSpPr>
          <p:cNvPr id="82" name="Google Shape;82;p15"/>
          <p:cNvSpPr/>
          <p:nvPr/>
        </p:nvSpPr>
        <p:spPr>
          <a:xfrm>
            <a:off x="51950" y="4126450"/>
            <a:ext cx="3115800" cy="930300"/>
          </a:xfrm>
          <a:prstGeom prst="rect">
            <a:avLst/>
          </a:prstGeom>
          <a:solidFill>
            <a:srgbClr val="232AAC"/>
          </a:solidFill>
          <a:ln cap="flat" cmpd="sng" w="9525">
            <a:solidFill>
              <a:srgbClr val="232AA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b="1" lang="en" sz="900">
                <a:solidFill>
                  <a:srgbClr val="FFFFFF"/>
                </a:solidFill>
                <a:latin typeface="Sora"/>
                <a:ea typeface="Sora"/>
                <a:cs typeface="Sora"/>
                <a:sym typeface="Sora"/>
              </a:rPr>
              <a:t>Headline: </a:t>
            </a:r>
            <a:endParaRPr b="1" sz="900">
              <a:solidFill>
                <a:srgbClr val="FFFFFF"/>
              </a:solidFill>
              <a:latin typeface="Sora"/>
              <a:ea typeface="Sora"/>
              <a:cs typeface="Sora"/>
              <a:sym typeface="Sora"/>
            </a:endParaRPr>
          </a:p>
          <a:p>
            <a:pPr indent="0" lvl="0" marL="0" rtl="0" algn="l">
              <a:spcBef>
                <a:spcPts val="0"/>
              </a:spcBef>
              <a:spcAft>
                <a:spcPts val="0"/>
              </a:spcAft>
              <a:buNone/>
            </a:pPr>
            <a:r>
              <a:rPr lang="en" sz="900">
                <a:solidFill>
                  <a:srgbClr val="FFFFFF"/>
                </a:solidFill>
                <a:latin typeface="Sora"/>
                <a:ea typeface="Sora"/>
                <a:cs typeface="Sora"/>
                <a:sym typeface="Sora"/>
              </a:rPr>
              <a:t>Chill. </a:t>
            </a:r>
            <a:endParaRPr sz="900">
              <a:solidFill>
                <a:srgbClr val="FFFFFF"/>
              </a:solidFill>
              <a:latin typeface="Sora"/>
              <a:ea typeface="Sora"/>
              <a:cs typeface="Sora"/>
              <a:sym typeface="Sora"/>
            </a:endParaRPr>
          </a:p>
          <a:p>
            <a:pPr indent="0" lvl="0" marL="0" rtl="0" algn="l">
              <a:spcBef>
                <a:spcPts val="0"/>
              </a:spcBef>
              <a:spcAft>
                <a:spcPts val="0"/>
              </a:spcAft>
              <a:buNone/>
            </a:pPr>
            <a:r>
              <a:rPr lang="en" sz="900">
                <a:solidFill>
                  <a:srgbClr val="FFFFFF"/>
                </a:solidFill>
                <a:latin typeface="Sora"/>
                <a:ea typeface="Sora"/>
                <a:cs typeface="Sora"/>
                <a:sym typeface="Sora"/>
              </a:rPr>
              <a:t>We've Got The Metrics.</a:t>
            </a:r>
            <a:endParaRPr sz="900">
              <a:solidFill>
                <a:srgbClr val="FFFFFF"/>
              </a:solidFill>
              <a:latin typeface="Sora"/>
              <a:ea typeface="Sora"/>
              <a:cs typeface="Sora"/>
              <a:sym typeface="Sora"/>
            </a:endParaRPr>
          </a:p>
        </p:txBody>
      </p:sp>
      <p:sp>
        <p:nvSpPr>
          <p:cNvPr id="83" name="Google Shape;83;p15"/>
          <p:cNvSpPr/>
          <p:nvPr/>
        </p:nvSpPr>
        <p:spPr>
          <a:xfrm>
            <a:off x="329075" y="1891425"/>
            <a:ext cx="1688400" cy="831300"/>
          </a:xfrm>
          <a:prstGeom prst="rect">
            <a:avLst/>
          </a:prstGeom>
          <a:solidFill>
            <a:srgbClr val="232AAC">
              <a:alpha val="3608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u="sng">
                <a:solidFill>
                  <a:srgbClr val="FFFFFF"/>
                </a:solidFill>
                <a:latin typeface="Sora"/>
                <a:ea typeface="Sora"/>
                <a:cs typeface="Sora"/>
                <a:sym typeface="Sora"/>
              </a:rPr>
              <a:t>HEADLINE</a:t>
            </a:r>
            <a:endParaRPr b="1" u="sng">
              <a:solidFill>
                <a:srgbClr val="FFFFFF"/>
              </a:solidFill>
              <a:latin typeface="Sora"/>
              <a:ea typeface="Sora"/>
              <a:cs typeface="Sora"/>
              <a:sym typeface="Sora"/>
            </a:endParaRPr>
          </a:p>
        </p:txBody>
      </p:sp>
      <p:sp>
        <p:nvSpPr>
          <p:cNvPr id="84" name="Google Shape;84;p15"/>
          <p:cNvSpPr/>
          <p:nvPr/>
        </p:nvSpPr>
        <p:spPr>
          <a:xfrm>
            <a:off x="329075" y="2752500"/>
            <a:ext cx="2043600" cy="234900"/>
          </a:xfrm>
          <a:prstGeom prst="rect">
            <a:avLst/>
          </a:prstGeom>
          <a:solidFill>
            <a:srgbClr val="232AAC">
              <a:alpha val="3608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900" u="sng">
                <a:solidFill>
                  <a:srgbClr val="FFFFFF"/>
                </a:solidFill>
                <a:latin typeface="Sora"/>
                <a:ea typeface="Sora"/>
                <a:cs typeface="Sora"/>
                <a:sym typeface="Sora"/>
              </a:rPr>
              <a:t>SUPPORTING PARAGRAPH</a:t>
            </a:r>
            <a:endParaRPr b="1" sz="900" u="sng">
              <a:solidFill>
                <a:srgbClr val="FFFFFF"/>
              </a:solidFill>
              <a:latin typeface="Sora"/>
              <a:ea typeface="Sora"/>
              <a:cs typeface="Sora"/>
              <a:sym typeface="Sora"/>
            </a:endParaRPr>
          </a:p>
        </p:txBody>
      </p:sp>
      <p:sp>
        <p:nvSpPr>
          <p:cNvPr id="85" name="Google Shape;85;p15"/>
          <p:cNvSpPr txBox="1"/>
          <p:nvPr/>
        </p:nvSpPr>
        <p:spPr>
          <a:xfrm>
            <a:off x="7272518" y="45291"/>
            <a:ext cx="1822500" cy="252300"/>
          </a:xfrm>
          <a:prstGeom prst="rect">
            <a:avLst/>
          </a:prstGeom>
          <a:noFill/>
          <a:ln>
            <a:noFill/>
          </a:ln>
        </p:spPr>
        <p:txBody>
          <a:bodyPr anchorCtr="0" anchor="t" bIns="91425" lIns="0" spcFirstLastPara="1" rIns="91425" wrap="square" tIns="91425">
            <a:spAutoFit/>
          </a:bodyPr>
          <a:lstStyle/>
          <a:p>
            <a:pPr indent="0" lvl="0" marL="0" rtl="0" algn="r">
              <a:lnSpc>
                <a:spcPct val="80000"/>
              </a:lnSpc>
              <a:spcBef>
                <a:spcPts val="0"/>
              </a:spcBef>
              <a:spcAft>
                <a:spcPts val="0"/>
              </a:spcAft>
              <a:buNone/>
            </a:pPr>
            <a:r>
              <a:rPr lang="en" sz="550">
                <a:solidFill>
                  <a:srgbClr val="FFFFFF"/>
                </a:solidFill>
                <a:latin typeface="Plus Jakarta Sans ExtraBold"/>
                <a:ea typeface="Plus Jakarta Sans ExtraBold"/>
                <a:cs typeface="Plus Jakarta Sans ExtraBold"/>
                <a:sym typeface="Plus Jakarta Sans ExtraBold"/>
              </a:rPr>
              <a:t>TOOLS WEBPAGE REVISION GUIDELINE</a:t>
            </a:r>
            <a:endParaRPr sz="550">
              <a:solidFill>
                <a:srgbClr val="FFFFFF"/>
              </a:solidFill>
              <a:latin typeface="Plus Jakarta Sans ExtraBold"/>
              <a:ea typeface="Plus Jakarta Sans ExtraBold"/>
              <a:cs typeface="Plus Jakarta Sans ExtraBold"/>
              <a:sym typeface="Plus Jakarta Sans ExtraBold"/>
            </a:endParaRPr>
          </a:p>
        </p:txBody>
      </p:sp>
      <p:sp>
        <p:nvSpPr>
          <p:cNvPr id="86" name="Google Shape;86;p15"/>
          <p:cNvSpPr/>
          <p:nvPr/>
        </p:nvSpPr>
        <p:spPr>
          <a:xfrm>
            <a:off x="3204600" y="4126450"/>
            <a:ext cx="3115800" cy="930300"/>
          </a:xfrm>
          <a:prstGeom prst="rect">
            <a:avLst/>
          </a:prstGeom>
          <a:solidFill>
            <a:srgbClr val="232AAC"/>
          </a:solidFill>
          <a:ln cap="flat" cmpd="sng" w="9525">
            <a:solidFill>
              <a:srgbClr val="232AA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b="1" lang="en" sz="800">
                <a:solidFill>
                  <a:srgbClr val="FFFFFF"/>
                </a:solidFill>
                <a:latin typeface="Sora"/>
                <a:ea typeface="Sora"/>
                <a:cs typeface="Sora"/>
                <a:sym typeface="Sora"/>
              </a:rPr>
              <a:t>Supporting Paragraph:</a:t>
            </a:r>
            <a:endParaRPr b="1" sz="800">
              <a:solidFill>
                <a:srgbClr val="FFFFFF"/>
              </a:solidFill>
              <a:latin typeface="Sora"/>
              <a:ea typeface="Sora"/>
              <a:cs typeface="Sora"/>
              <a:sym typeface="Sora"/>
            </a:endParaRPr>
          </a:p>
          <a:p>
            <a:pPr indent="0" lvl="0" marL="0" rtl="0" algn="l">
              <a:spcBef>
                <a:spcPts val="0"/>
              </a:spcBef>
              <a:spcAft>
                <a:spcPts val="0"/>
              </a:spcAft>
              <a:buNone/>
            </a:pPr>
            <a:r>
              <a:rPr lang="en" sz="800">
                <a:solidFill>
                  <a:srgbClr val="FFFFFF"/>
                </a:solidFill>
                <a:latin typeface="Sora"/>
                <a:ea typeface="Sora"/>
                <a:cs typeface="Sora"/>
                <a:sym typeface="Sora"/>
              </a:rPr>
              <a:t>Every platform gives you metrics, while KepiAi gives you clarity. We bring your performance, content, audience, and campaigns into one intelligent workspace, reveal what actually drives results, and turn days of reporting into minutes, so you can spend less time explaining the numbers and more time acting on them.</a:t>
            </a:r>
            <a:endParaRPr sz="800">
              <a:solidFill>
                <a:srgbClr val="FFFFFF"/>
              </a:solidFill>
              <a:latin typeface="Sora"/>
              <a:ea typeface="Sora"/>
              <a:cs typeface="Sora"/>
              <a:sym typeface="Sora"/>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 name="Shape 90"/>
        <p:cNvGrpSpPr/>
        <p:nvPr/>
      </p:nvGrpSpPr>
      <p:grpSpPr>
        <a:xfrm>
          <a:off x="0" y="0"/>
          <a:ext cx="0" cy="0"/>
          <a:chOff x="0" y="0"/>
          <a:chExt cx="0" cy="0"/>
        </a:xfrm>
      </p:grpSpPr>
      <p:pic>
        <p:nvPicPr>
          <p:cNvPr id="91" name="Google Shape;91;p16" title="artistic-blurry-colorful-wallpaper-background.jpg"/>
          <p:cNvPicPr preferRelativeResize="0"/>
          <p:nvPr/>
        </p:nvPicPr>
        <p:blipFill>
          <a:blip r:embed="rId3">
            <a:alphaModFix/>
          </a:blip>
          <a:stretch>
            <a:fillRect/>
          </a:stretch>
        </p:blipFill>
        <p:spPr>
          <a:xfrm>
            <a:off x="0" y="0"/>
            <a:ext cx="9144003" cy="342902"/>
          </a:xfrm>
          <a:prstGeom prst="rect">
            <a:avLst/>
          </a:prstGeom>
          <a:noFill/>
          <a:ln>
            <a:noFill/>
          </a:ln>
        </p:spPr>
      </p:pic>
      <p:pic>
        <p:nvPicPr>
          <p:cNvPr id="92" name="Google Shape;92;p16" title="kepiai_LOGO_WHITE.png"/>
          <p:cNvPicPr preferRelativeResize="0"/>
          <p:nvPr/>
        </p:nvPicPr>
        <p:blipFill>
          <a:blip r:embed="rId4">
            <a:alphaModFix/>
          </a:blip>
          <a:stretch>
            <a:fillRect/>
          </a:stretch>
        </p:blipFill>
        <p:spPr>
          <a:xfrm>
            <a:off x="126807" y="50212"/>
            <a:ext cx="847452" cy="242475"/>
          </a:xfrm>
          <a:prstGeom prst="rect">
            <a:avLst/>
          </a:prstGeom>
          <a:noFill/>
          <a:ln>
            <a:noFill/>
          </a:ln>
        </p:spPr>
      </p:pic>
      <p:sp>
        <p:nvSpPr>
          <p:cNvPr id="93" name="Google Shape;93;p16"/>
          <p:cNvSpPr/>
          <p:nvPr/>
        </p:nvSpPr>
        <p:spPr>
          <a:xfrm>
            <a:off x="1094025" y="59000"/>
            <a:ext cx="6465300" cy="234900"/>
          </a:xfrm>
          <a:prstGeom prst="roundRect">
            <a:avLst>
              <a:gd fmla="val 50000" name="adj"/>
            </a:avLst>
          </a:prstGeom>
          <a:noFill/>
          <a:ln cap="flat" cmpd="sng" w="9525">
            <a:solidFill>
              <a:srgbClr val="FFF7E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700">
                <a:solidFill>
                  <a:srgbClr val="FFFFFF"/>
                </a:solidFill>
                <a:latin typeface="Sora"/>
                <a:ea typeface="Sora"/>
                <a:cs typeface="Sora"/>
                <a:sym typeface="Sora"/>
              </a:rPr>
              <a:t>LOGIN PAGE</a:t>
            </a:r>
            <a:r>
              <a:rPr b="1" lang="en" sz="700">
                <a:solidFill>
                  <a:schemeClr val="lt1"/>
                </a:solidFill>
                <a:latin typeface="Sora"/>
                <a:ea typeface="Sora"/>
                <a:cs typeface="Sora"/>
                <a:sym typeface="Sora"/>
              </a:rPr>
              <a:t>: COLOR GRADIENT REVISION BRIEF</a:t>
            </a:r>
            <a:endParaRPr b="1" sz="700">
              <a:solidFill>
                <a:srgbClr val="FFFFFF"/>
              </a:solidFill>
              <a:latin typeface="Sora"/>
              <a:ea typeface="Sora"/>
              <a:cs typeface="Sora"/>
              <a:sym typeface="Sora"/>
            </a:endParaRPr>
          </a:p>
        </p:txBody>
      </p:sp>
      <p:sp>
        <p:nvSpPr>
          <p:cNvPr id="94" name="Google Shape;94;p16"/>
          <p:cNvSpPr txBox="1"/>
          <p:nvPr/>
        </p:nvSpPr>
        <p:spPr>
          <a:xfrm>
            <a:off x="7272518" y="45291"/>
            <a:ext cx="1822500" cy="252300"/>
          </a:xfrm>
          <a:prstGeom prst="rect">
            <a:avLst/>
          </a:prstGeom>
          <a:noFill/>
          <a:ln>
            <a:noFill/>
          </a:ln>
        </p:spPr>
        <p:txBody>
          <a:bodyPr anchorCtr="0" anchor="t" bIns="91425" lIns="0" spcFirstLastPara="1" rIns="91425" wrap="square" tIns="91425">
            <a:spAutoFit/>
          </a:bodyPr>
          <a:lstStyle/>
          <a:p>
            <a:pPr indent="0" lvl="0" marL="0" rtl="0" algn="r">
              <a:lnSpc>
                <a:spcPct val="80000"/>
              </a:lnSpc>
              <a:spcBef>
                <a:spcPts val="0"/>
              </a:spcBef>
              <a:spcAft>
                <a:spcPts val="0"/>
              </a:spcAft>
              <a:buNone/>
            </a:pPr>
            <a:r>
              <a:rPr lang="en" sz="550">
                <a:solidFill>
                  <a:srgbClr val="FFFFFF"/>
                </a:solidFill>
                <a:latin typeface="Plus Jakarta Sans ExtraBold"/>
                <a:ea typeface="Plus Jakarta Sans ExtraBold"/>
                <a:cs typeface="Plus Jakarta Sans ExtraBold"/>
                <a:sym typeface="Plus Jakarta Sans ExtraBold"/>
              </a:rPr>
              <a:t>TOOLS WEBPAGE REVISION GUIDELINE</a:t>
            </a:r>
            <a:endParaRPr sz="550">
              <a:solidFill>
                <a:srgbClr val="FFFFFF"/>
              </a:solidFill>
              <a:latin typeface="Plus Jakarta Sans ExtraBold"/>
              <a:ea typeface="Plus Jakarta Sans ExtraBold"/>
              <a:cs typeface="Plus Jakarta Sans ExtraBold"/>
              <a:sym typeface="Plus Jakarta Sans ExtraBold"/>
            </a:endParaRPr>
          </a:p>
        </p:txBody>
      </p:sp>
      <p:pic>
        <p:nvPicPr>
          <p:cNvPr id="95" name="Google Shape;95;p16" title="artistic-blurry-colorful-wallpaper-background.jpg"/>
          <p:cNvPicPr preferRelativeResize="0"/>
          <p:nvPr/>
        </p:nvPicPr>
        <p:blipFill>
          <a:blip r:embed="rId3">
            <a:alphaModFix/>
          </a:blip>
          <a:stretch>
            <a:fillRect/>
          </a:stretch>
        </p:blipFill>
        <p:spPr>
          <a:xfrm>
            <a:off x="506188" y="422500"/>
            <a:ext cx="8131625" cy="457405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 name="Shape 99"/>
        <p:cNvGrpSpPr/>
        <p:nvPr/>
      </p:nvGrpSpPr>
      <p:grpSpPr>
        <a:xfrm>
          <a:off x="0" y="0"/>
          <a:ext cx="0" cy="0"/>
          <a:chOff x="0" y="0"/>
          <a:chExt cx="0" cy="0"/>
        </a:xfrm>
      </p:grpSpPr>
      <p:pic>
        <p:nvPicPr>
          <p:cNvPr id="100" name="Google Shape;100;p17" title="artistic-blurry-colorful-wallpaper-background.jpg"/>
          <p:cNvPicPr preferRelativeResize="0"/>
          <p:nvPr/>
        </p:nvPicPr>
        <p:blipFill>
          <a:blip r:embed="rId3">
            <a:alphaModFix/>
          </a:blip>
          <a:stretch>
            <a:fillRect/>
          </a:stretch>
        </p:blipFill>
        <p:spPr>
          <a:xfrm>
            <a:off x="0" y="0"/>
            <a:ext cx="9144003" cy="342902"/>
          </a:xfrm>
          <a:prstGeom prst="rect">
            <a:avLst/>
          </a:prstGeom>
          <a:noFill/>
          <a:ln>
            <a:noFill/>
          </a:ln>
        </p:spPr>
      </p:pic>
      <p:pic>
        <p:nvPicPr>
          <p:cNvPr id="101" name="Google Shape;101;p17" title="kepiai_LOGO_WHITE.png"/>
          <p:cNvPicPr preferRelativeResize="0"/>
          <p:nvPr/>
        </p:nvPicPr>
        <p:blipFill>
          <a:blip r:embed="rId4">
            <a:alphaModFix/>
          </a:blip>
          <a:stretch>
            <a:fillRect/>
          </a:stretch>
        </p:blipFill>
        <p:spPr>
          <a:xfrm>
            <a:off x="126807" y="50212"/>
            <a:ext cx="847452" cy="242475"/>
          </a:xfrm>
          <a:prstGeom prst="rect">
            <a:avLst/>
          </a:prstGeom>
          <a:noFill/>
          <a:ln>
            <a:noFill/>
          </a:ln>
        </p:spPr>
      </p:pic>
      <p:sp>
        <p:nvSpPr>
          <p:cNvPr id="102" name="Google Shape;102;p17"/>
          <p:cNvSpPr txBox="1"/>
          <p:nvPr/>
        </p:nvSpPr>
        <p:spPr>
          <a:xfrm>
            <a:off x="7272518" y="45291"/>
            <a:ext cx="1822500" cy="252300"/>
          </a:xfrm>
          <a:prstGeom prst="rect">
            <a:avLst/>
          </a:prstGeom>
          <a:noFill/>
          <a:ln>
            <a:noFill/>
          </a:ln>
        </p:spPr>
        <p:txBody>
          <a:bodyPr anchorCtr="0" anchor="t" bIns="91425" lIns="0" spcFirstLastPara="1" rIns="91425" wrap="square" tIns="91425">
            <a:spAutoFit/>
          </a:bodyPr>
          <a:lstStyle/>
          <a:p>
            <a:pPr indent="0" lvl="0" marL="0" rtl="0" algn="r">
              <a:lnSpc>
                <a:spcPct val="80000"/>
              </a:lnSpc>
              <a:spcBef>
                <a:spcPts val="0"/>
              </a:spcBef>
              <a:spcAft>
                <a:spcPts val="0"/>
              </a:spcAft>
              <a:buNone/>
            </a:pPr>
            <a:r>
              <a:rPr lang="en" sz="550">
                <a:solidFill>
                  <a:srgbClr val="FFFFFF"/>
                </a:solidFill>
                <a:latin typeface="Plus Jakarta Sans ExtraBold"/>
                <a:ea typeface="Plus Jakarta Sans ExtraBold"/>
                <a:cs typeface="Plus Jakarta Sans ExtraBold"/>
                <a:sym typeface="Plus Jakarta Sans ExtraBold"/>
              </a:rPr>
              <a:t>TOOLS </a:t>
            </a:r>
            <a:r>
              <a:rPr lang="en" sz="550">
                <a:solidFill>
                  <a:srgbClr val="FFFFFF"/>
                </a:solidFill>
                <a:latin typeface="Plus Jakarta Sans ExtraBold"/>
                <a:ea typeface="Plus Jakarta Sans ExtraBold"/>
                <a:cs typeface="Plus Jakarta Sans ExtraBold"/>
                <a:sym typeface="Plus Jakarta Sans ExtraBold"/>
              </a:rPr>
              <a:t>WEBPAGE REVISION GUIDELINE</a:t>
            </a:r>
            <a:endParaRPr sz="550">
              <a:solidFill>
                <a:srgbClr val="FFFFFF"/>
              </a:solidFill>
              <a:latin typeface="Plus Jakarta Sans ExtraBold"/>
              <a:ea typeface="Plus Jakarta Sans ExtraBold"/>
              <a:cs typeface="Plus Jakarta Sans ExtraBold"/>
              <a:sym typeface="Plus Jakarta Sans ExtraBold"/>
            </a:endParaRPr>
          </a:p>
        </p:txBody>
      </p:sp>
      <p:sp>
        <p:nvSpPr>
          <p:cNvPr id="103" name="Google Shape;103;p17"/>
          <p:cNvSpPr/>
          <p:nvPr/>
        </p:nvSpPr>
        <p:spPr>
          <a:xfrm>
            <a:off x="1094025" y="59000"/>
            <a:ext cx="6465300" cy="234900"/>
          </a:xfrm>
          <a:prstGeom prst="roundRect">
            <a:avLst>
              <a:gd fmla="val 50000" name="adj"/>
            </a:avLst>
          </a:prstGeom>
          <a:noFill/>
          <a:ln cap="flat" cmpd="sng" w="9525">
            <a:solidFill>
              <a:srgbClr val="FFF7E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700">
                <a:solidFill>
                  <a:srgbClr val="FFFFFF"/>
                </a:solidFill>
                <a:latin typeface="Sora"/>
                <a:ea typeface="Sora"/>
                <a:cs typeface="Sora"/>
                <a:sym typeface="Sora"/>
              </a:rPr>
              <a:t>WELCOME</a:t>
            </a:r>
            <a:r>
              <a:rPr b="1" lang="en" sz="700">
                <a:solidFill>
                  <a:srgbClr val="FFFFFF"/>
                </a:solidFill>
                <a:latin typeface="Sora"/>
                <a:ea typeface="Sora"/>
                <a:cs typeface="Sora"/>
                <a:sym typeface="Sora"/>
              </a:rPr>
              <a:t> PAGE: REVISION BRIEF</a:t>
            </a:r>
            <a:endParaRPr b="1" sz="700">
              <a:solidFill>
                <a:srgbClr val="FFFFFF"/>
              </a:solidFill>
              <a:latin typeface="Sora"/>
              <a:ea typeface="Sora"/>
              <a:cs typeface="Sora"/>
              <a:sym typeface="Sora"/>
            </a:endParaRPr>
          </a:p>
        </p:txBody>
      </p:sp>
      <p:pic>
        <p:nvPicPr>
          <p:cNvPr id="104" name="Google Shape;104;p17"/>
          <p:cNvPicPr preferRelativeResize="0"/>
          <p:nvPr/>
        </p:nvPicPr>
        <p:blipFill>
          <a:blip r:embed="rId5">
            <a:alphaModFix/>
          </a:blip>
          <a:stretch>
            <a:fillRect/>
          </a:stretch>
        </p:blipFill>
        <p:spPr>
          <a:xfrm>
            <a:off x="152400" y="495300"/>
            <a:ext cx="6125926" cy="3478725"/>
          </a:xfrm>
          <a:prstGeom prst="rect">
            <a:avLst/>
          </a:prstGeom>
          <a:noFill/>
          <a:ln>
            <a:noFill/>
          </a:ln>
          <a:effectLst>
            <a:outerShdw blurRad="57150" rotWithShape="0" algn="bl" dir="5400000" dist="19050">
              <a:srgbClr val="000000">
                <a:alpha val="50000"/>
              </a:srgbClr>
            </a:outerShdw>
          </a:effectLst>
        </p:spPr>
      </p:pic>
      <p:sp>
        <p:nvSpPr>
          <p:cNvPr id="105" name="Google Shape;105;p17"/>
          <p:cNvSpPr/>
          <p:nvPr/>
        </p:nvSpPr>
        <p:spPr>
          <a:xfrm>
            <a:off x="126800" y="857225"/>
            <a:ext cx="6126000" cy="3116700"/>
          </a:xfrm>
          <a:prstGeom prst="rect">
            <a:avLst/>
          </a:prstGeom>
          <a:noFill/>
          <a:ln cap="flat" cmpd="sng" w="2857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06" name="Google Shape;106;p17"/>
          <p:cNvSpPr/>
          <p:nvPr/>
        </p:nvSpPr>
        <p:spPr>
          <a:xfrm>
            <a:off x="5896850" y="919375"/>
            <a:ext cx="310200" cy="310200"/>
          </a:xfrm>
          <a:prstGeom prst="ellipse">
            <a:avLst/>
          </a:prstGeom>
          <a:solidFill>
            <a:srgbClr val="FF0000"/>
          </a:solidFill>
          <a:ln cap="flat" cmpd="sng" w="9525">
            <a:solidFill>
              <a:srgbClr val="232AAC"/>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b="1" lang="en" sz="2400">
                <a:solidFill>
                  <a:srgbClr val="FFFFFF"/>
                </a:solidFill>
                <a:latin typeface="Sora"/>
                <a:ea typeface="Sora"/>
                <a:cs typeface="Sora"/>
                <a:sym typeface="Sora"/>
              </a:rPr>
              <a:t>1</a:t>
            </a:r>
            <a:endParaRPr b="1" sz="2400">
              <a:solidFill>
                <a:srgbClr val="FFFFFF"/>
              </a:solidFill>
              <a:latin typeface="Sora"/>
              <a:ea typeface="Sora"/>
              <a:cs typeface="Sora"/>
              <a:sym typeface="Sora"/>
            </a:endParaRPr>
          </a:p>
        </p:txBody>
      </p:sp>
      <p:sp>
        <p:nvSpPr>
          <p:cNvPr id="107" name="Google Shape;107;p17"/>
          <p:cNvSpPr/>
          <p:nvPr/>
        </p:nvSpPr>
        <p:spPr>
          <a:xfrm>
            <a:off x="6357250" y="547025"/>
            <a:ext cx="2737800" cy="2804100"/>
          </a:xfrm>
          <a:prstGeom prst="roundRect">
            <a:avLst>
              <a:gd fmla="val 5262" name="adj"/>
            </a:avLst>
          </a:prstGeom>
          <a:solidFill>
            <a:srgbClr val="FF0000"/>
          </a:solidFill>
          <a:ln cap="flat" cmpd="sng" w="9525">
            <a:solidFill>
              <a:srgbClr val="232AA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a:solidFill>
                  <a:srgbClr val="FFFFFF"/>
                </a:solidFill>
                <a:latin typeface="Sora"/>
                <a:ea typeface="Sora"/>
                <a:cs typeface="Sora"/>
                <a:sym typeface="Sora"/>
              </a:rPr>
              <a:t>Please update the design of the visual elements in this section according to the detailed brief provided on the following slide.</a:t>
            </a:r>
            <a:endParaRPr b="1">
              <a:solidFill>
                <a:srgbClr val="FFFFFF"/>
              </a:solidFill>
              <a:latin typeface="Sora"/>
              <a:ea typeface="Sora"/>
              <a:cs typeface="Sora"/>
              <a:sym typeface="Sora"/>
            </a:endParaRPr>
          </a:p>
        </p:txBody>
      </p:sp>
      <p:sp>
        <p:nvSpPr>
          <p:cNvPr id="108" name="Google Shape;108;p17"/>
          <p:cNvSpPr/>
          <p:nvPr/>
        </p:nvSpPr>
        <p:spPr>
          <a:xfrm>
            <a:off x="8724925" y="609175"/>
            <a:ext cx="310200" cy="310200"/>
          </a:xfrm>
          <a:prstGeom prst="ellipse">
            <a:avLst/>
          </a:prstGeom>
          <a:solidFill>
            <a:srgbClr val="FF0000"/>
          </a:solidFill>
          <a:ln cap="flat" cmpd="sng" w="9525">
            <a:solidFill>
              <a:srgbClr val="232AAC"/>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b="1" lang="en" sz="2400">
                <a:solidFill>
                  <a:srgbClr val="FFFFFF"/>
                </a:solidFill>
                <a:latin typeface="Sora"/>
                <a:ea typeface="Sora"/>
                <a:cs typeface="Sora"/>
                <a:sym typeface="Sora"/>
              </a:rPr>
              <a:t>1</a:t>
            </a:r>
            <a:endParaRPr b="1" sz="2400">
              <a:solidFill>
                <a:srgbClr val="FFFFFF"/>
              </a:solidFill>
              <a:latin typeface="Sora"/>
              <a:ea typeface="Sora"/>
              <a:cs typeface="Sora"/>
              <a:sym typeface="Sora"/>
            </a:endParaRPr>
          </a:p>
        </p:txBody>
      </p:sp>
      <p:sp>
        <p:nvSpPr>
          <p:cNvPr id="109" name="Google Shape;109;p17"/>
          <p:cNvSpPr/>
          <p:nvPr/>
        </p:nvSpPr>
        <p:spPr>
          <a:xfrm>
            <a:off x="1710675" y="1828800"/>
            <a:ext cx="2982600" cy="1522200"/>
          </a:xfrm>
          <a:prstGeom prst="rect">
            <a:avLst/>
          </a:prstGeom>
          <a:noFill/>
          <a:ln cap="flat" cmpd="sng" w="2857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10" name="Google Shape;110;p17"/>
          <p:cNvSpPr/>
          <p:nvPr/>
        </p:nvSpPr>
        <p:spPr>
          <a:xfrm>
            <a:off x="6357250" y="3439125"/>
            <a:ext cx="2737800" cy="1617600"/>
          </a:xfrm>
          <a:prstGeom prst="roundRect">
            <a:avLst>
              <a:gd fmla="val 5262" name="adj"/>
            </a:avLst>
          </a:prstGeom>
          <a:solidFill>
            <a:srgbClr val="FF0000"/>
          </a:solidFill>
          <a:ln cap="flat" cmpd="sng" w="9525">
            <a:solidFill>
              <a:srgbClr val="232AA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a:solidFill>
                  <a:schemeClr val="lt1"/>
                </a:solidFill>
                <a:latin typeface="Sora"/>
                <a:ea typeface="Sora"/>
                <a:cs typeface="Sora"/>
                <a:sym typeface="Sora"/>
              </a:rPr>
              <a:t>Please update the copy from the blue box below using the provided material, and apply a color combination that aligns with KepiAi's brand guidelines.</a:t>
            </a:r>
            <a:endParaRPr sz="1000">
              <a:solidFill>
                <a:srgbClr val="FFFFFF"/>
              </a:solidFill>
              <a:latin typeface="Sora"/>
              <a:ea typeface="Sora"/>
              <a:cs typeface="Sora"/>
              <a:sym typeface="Sora"/>
            </a:endParaRPr>
          </a:p>
        </p:txBody>
      </p:sp>
      <p:sp>
        <p:nvSpPr>
          <p:cNvPr id="111" name="Google Shape;111;p17"/>
          <p:cNvSpPr/>
          <p:nvPr/>
        </p:nvSpPr>
        <p:spPr>
          <a:xfrm>
            <a:off x="8737025" y="3487625"/>
            <a:ext cx="310200" cy="310200"/>
          </a:xfrm>
          <a:prstGeom prst="ellipse">
            <a:avLst/>
          </a:prstGeom>
          <a:solidFill>
            <a:srgbClr val="FF0000"/>
          </a:solidFill>
          <a:ln cap="flat" cmpd="sng" w="9525">
            <a:solidFill>
              <a:srgbClr val="232AAC"/>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b="1" lang="en" sz="2400">
                <a:solidFill>
                  <a:srgbClr val="FFFFFF"/>
                </a:solidFill>
                <a:latin typeface="Sora"/>
                <a:ea typeface="Sora"/>
                <a:cs typeface="Sora"/>
                <a:sym typeface="Sora"/>
              </a:rPr>
              <a:t>2</a:t>
            </a:r>
            <a:endParaRPr b="1" sz="2400">
              <a:solidFill>
                <a:srgbClr val="FFFFFF"/>
              </a:solidFill>
              <a:latin typeface="Sora"/>
              <a:ea typeface="Sora"/>
              <a:cs typeface="Sora"/>
              <a:sym typeface="Sora"/>
            </a:endParaRPr>
          </a:p>
        </p:txBody>
      </p:sp>
      <p:sp>
        <p:nvSpPr>
          <p:cNvPr id="112" name="Google Shape;112;p17"/>
          <p:cNvSpPr/>
          <p:nvPr/>
        </p:nvSpPr>
        <p:spPr>
          <a:xfrm>
            <a:off x="1776875" y="1891425"/>
            <a:ext cx="2864400" cy="753300"/>
          </a:xfrm>
          <a:prstGeom prst="rect">
            <a:avLst/>
          </a:prstGeom>
          <a:solidFill>
            <a:srgbClr val="232AAC">
              <a:alpha val="3608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u="sng">
                <a:solidFill>
                  <a:srgbClr val="FFFFFF"/>
                </a:solidFill>
                <a:latin typeface="Sora"/>
                <a:ea typeface="Sora"/>
                <a:cs typeface="Sora"/>
                <a:sym typeface="Sora"/>
              </a:rPr>
              <a:t>HEADLINE</a:t>
            </a:r>
            <a:endParaRPr b="1" u="sng">
              <a:solidFill>
                <a:srgbClr val="FFFFFF"/>
              </a:solidFill>
              <a:latin typeface="Sora"/>
              <a:ea typeface="Sora"/>
              <a:cs typeface="Sora"/>
              <a:sym typeface="Sora"/>
            </a:endParaRPr>
          </a:p>
        </p:txBody>
      </p:sp>
      <p:sp>
        <p:nvSpPr>
          <p:cNvPr id="113" name="Google Shape;113;p17"/>
          <p:cNvSpPr/>
          <p:nvPr/>
        </p:nvSpPr>
        <p:spPr>
          <a:xfrm>
            <a:off x="1776875" y="2677200"/>
            <a:ext cx="2864400" cy="294900"/>
          </a:xfrm>
          <a:prstGeom prst="rect">
            <a:avLst/>
          </a:prstGeom>
          <a:solidFill>
            <a:srgbClr val="232AAC">
              <a:alpha val="3608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900" u="sng">
                <a:solidFill>
                  <a:srgbClr val="FFFFFF"/>
                </a:solidFill>
                <a:latin typeface="Sora"/>
                <a:ea typeface="Sora"/>
                <a:cs typeface="Sora"/>
                <a:sym typeface="Sora"/>
              </a:rPr>
              <a:t>SUPPORTING PARAGRAPH</a:t>
            </a:r>
            <a:endParaRPr b="1" sz="900" u="sng">
              <a:solidFill>
                <a:srgbClr val="FFFFFF"/>
              </a:solidFill>
              <a:latin typeface="Sora"/>
              <a:ea typeface="Sora"/>
              <a:cs typeface="Sora"/>
              <a:sym typeface="Sora"/>
            </a:endParaRPr>
          </a:p>
        </p:txBody>
      </p:sp>
      <p:sp>
        <p:nvSpPr>
          <p:cNvPr id="114" name="Google Shape;114;p17"/>
          <p:cNvSpPr/>
          <p:nvPr/>
        </p:nvSpPr>
        <p:spPr>
          <a:xfrm>
            <a:off x="4290375" y="2644750"/>
            <a:ext cx="310200" cy="310200"/>
          </a:xfrm>
          <a:prstGeom prst="ellipse">
            <a:avLst/>
          </a:prstGeom>
          <a:solidFill>
            <a:srgbClr val="FF0000"/>
          </a:solidFill>
          <a:ln cap="flat" cmpd="sng" w="9525">
            <a:solidFill>
              <a:srgbClr val="232AAC"/>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b="1" lang="en" sz="2400">
                <a:solidFill>
                  <a:srgbClr val="FFFFFF"/>
                </a:solidFill>
                <a:latin typeface="Sora"/>
                <a:ea typeface="Sora"/>
                <a:cs typeface="Sora"/>
                <a:sym typeface="Sora"/>
              </a:rPr>
              <a:t>2</a:t>
            </a:r>
            <a:endParaRPr b="1" sz="2400">
              <a:solidFill>
                <a:srgbClr val="FFFFFF"/>
              </a:solidFill>
              <a:latin typeface="Sora"/>
              <a:ea typeface="Sora"/>
              <a:cs typeface="Sora"/>
              <a:sym typeface="Sora"/>
            </a:endParaRPr>
          </a:p>
        </p:txBody>
      </p:sp>
      <p:sp>
        <p:nvSpPr>
          <p:cNvPr id="115" name="Google Shape;115;p17"/>
          <p:cNvSpPr/>
          <p:nvPr/>
        </p:nvSpPr>
        <p:spPr>
          <a:xfrm>
            <a:off x="51950" y="4126450"/>
            <a:ext cx="1658700" cy="930300"/>
          </a:xfrm>
          <a:prstGeom prst="rect">
            <a:avLst/>
          </a:prstGeom>
          <a:solidFill>
            <a:srgbClr val="232AAC"/>
          </a:solidFill>
          <a:ln cap="flat" cmpd="sng" w="9525">
            <a:solidFill>
              <a:srgbClr val="232AA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b="1" lang="en" sz="900">
                <a:solidFill>
                  <a:srgbClr val="FFFFFF"/>
                </a:solidFill>
                <a:latin typeface="Sora"/>
                <a:ea typeface="Sora"/>
                <a:cs typeface="Sora"/>
                <a:sym typeface="Sora"/>
              </a:rPr>
              <a:t>Headline: </a:t>
            </a:r>
            <a:endParaRPr b="1" sz="900">
              <a:solidFill>
                <a:srgbClr val="FFFFFF"/>
              </a:solidFill>
              <a:latin typeface="Sora"/>
              <a:ea typeface="Sora"/>
              <a:cs typeface="Sora"/>
              <a:sym typeface="Sora"/>
            </a:endParaRPr>
          </a:p>
          <a:p>
            <a:pPr indent="0" lvl="0" marL="0" rtl="0" algn="ctr">
              <a:spcBef>
                <a:spcPts val="0"/>
              </a:spcBef>
              <a:spcAft>
                <a:spcPts val="0"/>
              </a:spcAft>
              <a:buNone/>
            </a:pPr>
            <a:r>
              <a:rPr lang="en" sz="900">
                <a:solidFill>
                  <a:srgbClr val="FFFFFF"/>
                </a:solidFill>
                <a:latin typeface="Sora"/>
                <a:ea typeface="Sora"/>
                <a:cs typeface="Sora"/>
                <a:sym typeface="Sora"/>
              </a:rPr>
              <a:t>The data is in.</a:t>
            </a:r>
            <a:endParaRPr sz="900">
              <a:solidFill>
                <a:srgbClr val="FFFFFF"/>
              </a:solidFill>
              <a:latin typeface="Sora"/>
              <a:ea typeface="Sora"/>
              <a:cs typeface="Sora"/>
              <a:sym typeface="Sora"/>
            </a:endParaRPr>
          </a:p>
          <a:p>
            <a:pPr indent="0" lvl="0" marL="0" rtl="0" algn="ctr">
              <a:spcBef>
                <a:spcPts val="0"/>
              </a:spcBef>
              <a:spcAft>
                <a:spcPts val="0"/>
              </a:spcAft>
              <a:buNone/>
            </a:pPr>
            <a:r>
              <a:rPr lang="en" sz="900">
                <a:solidFill>
                  <a:srgbClr val="FFFFFF"/>
                </a:solidFill>
                <a:latin typeface="Sora"/>
                <a:ea typeface="Sora"/>
                <a:cs typeface="Sora"/>
                <a:sym typeface="Sora"/>
              </a:rPr>
              <a:t>The next move is yours.</a:t>
            </a:r>
            <a:endParaRPr sz="900">
              <a:solidFill>
                <a:srgbClr val="FFFFFF"/>
              </a:solidFill>
              <a:latin typeface="Sora"/>
              <a:ea typeface="Sora"/>
              <a:cs typeface="Sora"/>
              <a:sym typeface="Sora"/>
            </a:endParaRPr>
          </a:p>
        </p:txBody>
      </p:sp>
      <p:sp>
        <p:nvSpPr>
          <p:cNvPr id="116" name="Google Shape;116;p17"/>
          <p:cNvSpPr/>
          <p:nvPr/>
        </p:nvSpPr>
        <p:spPr>
          <a:xfrm>
            <a:off x="1776875" y="4126425"/>
            <a:ext cx="3115800" cy="930300"/>
          </a:xfrm>
          <a:prstGeom prst="rect">
            <a:avLst/>
          </a:prstGeom>
          <a:solidFill>
            <a:srgbClr val="232AAC"/>
          </a:solidFill>
          <a:ln cap="flat" cmpd="sng" w="9525">
            <a:solidFill>
              <a:srgbClr val="232AA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b="1" lang="en" sz="900">
                <a:solidFill>
                  <a:srgbClr val="FFFFFF"/>
                </a:solidFill>
                <a:latin typeface="Sora"/>
                <a:ea typeface="Sora"/>
                <a:cs typeface="Sora"/>
                <a:sym typeface="Sora"/>
              </a:rPr>
              <a:t>Supporting Paragraph:</a:t>
            </a:r>
            <a:endParaRPr b="1" sz="900">
              <a:solidFill>
                <a:srgbClr val="FFFFFF"/>
              </a:solidFill>
              <a:latin typeface="Sora"/>
              <a:ea typeface="Sora"/>
              <a:cs typeface="Sora"/>
              <a:sym typeface="Sora"/>
            </a:endParaRPr>
          </a:p>
          <a:p>
            <a:pPr indent="0" lvl="0" marL="0" rtl="0" algn="ctr">
              <a:spcBef>
                <a:spcPts val="0"/>
              </a:spcBef>
              <a:spcAft>
                <a:spcPts val="0"/>
              </a:spcAft>
              <a:buNone/>
            </a:pPr>
            <a:r>
              <a:rPr lang="en" sz="900">
                <a:solidFill>
                  <a:srgbClr val="FFFFFF"/>
                </a:solidFill>
                <a:latin typeface="Sora"/>
                <a:ea typeface="Sora"/>
                <a:cs typeface="Sora"/>
                <a:sym typeface="Sora"/>
              </a:rPr>
              <a:t>We've organized your metrics, surfaced the insights, and prepared the reports. </a:t>
            </a:r>
            <a:endParaRPr sz="900">
              <a:solidFill>
                <a:srgbClr val="FFFFFF"/>
              </a:solidFill>
              <a:latin typeface="Sora"/>
              <a:ea typeface="Sora"/>
              <a:cs typeface="Sora"/>
              <a:sym typeface="Sora"/>
            </a:endParaRPr>
          </a:p>
          <a:p>
            <a:pPr indent="0" lvl="0" marL="0" rtl="0" algn="ctr">
              <a:spcBef>
                <a:spcPts val="0"/>
              </a:spcBef>
              <a:spcAft>
                <a:spcPts val="0"/>
              </a:spcAft>
              <a:buNone/>
            </a:pPr>
            <a:r>
              <a:rPr lang="en" sz="900">
                <a:solidFill>
                  <a:srgbClr val="FFFFFF"/>
                </a:solidFill>
                <a:latin typeface="Sora"/>
                <a:ea typeface="Sora"/>
                <a:cs typeface="Sora"/>
                <a:sym typeface="Sora"/>
              </a:rPr>
              <a:t>Now it's time to decide with confidence.</a:t>
            </a:r>
            <a:endParaRPr sz="900">
              <a:solidFill>
                <a:srgbClr val="FFFFFF"/>
              </a:solidFill>
              <a:latin typeface="Sora"/>
              <a:ea typeface="Sora"/>
              <a:cs typeface="Sora"/>
              <a:sym typeface="Sora"/>
            </a:endParaRPr>
          </a:p>
        </p:txBody>
      </p:sp>
      <p:sp>
        <p:nvSpPr>
          <p:cNvPr id="117" name="Google Shape;117;p17"/>
          <p:cNvSpPr/>
          <p:nvPr/>
        </p:nvSpPr>
        <p:spPr>
          <a:xfrm>
            <a:off x="1776875" y="3000300"/>
            <a:ext cx="2864400" cy="310200"/>
          </a:xfrm>
          <a:prstGeom prst="rect">
            <a:avLst/>
          </a:prstGeom>
          <a:solidFill>
            <a:srgbClr val="232AAC">
              <a:alpha val="3608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900" u="sng">
                <a:solidFill>
                  <a:srgbClr val="FFFFFF"/>
                </a:solidFill>
                <a:latin typeface="Sora"/>
                <a:ea typeface="Sora"/>
                <a:cs typeface="Sora"/>
                <a:sym typeface="Sora"/>
              </a:rPr>
              <a:t>CTA</a:t>
            </a:r>
            <a:endParaRPr b="1" sz="900" u="sng">
              <a:solidFill>
                <a:srgbClr val="FFFFFF"/>
              </a:solidFill>
              <a:latin typeface="Sora"/>
              <a:ea typeface="Sora"/>
              <a:cs typeface="Sora"/>
              <a:sym typeface="Sora"/>
            </a:endParaRPr>
          </a:p>
        </p:txBody>
      </p:sp>
      <p:sp>
        <p:nvSpPr>
          <p:cNvPr id="118" name="Google Shape;118;p17"/>
          <p:cNvSpPr/>
          <p:nvPr/>
        </p:nvSpPr>
        <p:spPr>
          <a:xfrm>
            <a:off x="4958900" y="4126425"/>
            <a:ext cx="1293900" cy="930300"/>
          </a:xfrm>
          <a:prstGeom prst="rect">
            <a:avLst/>
          </a:prstGeom>
          <a:solidFill>
            <a:srgbClr val="232AAC"/>
          </a:solidFill>
          <a:ln cap="flat" cmpd="sng" w="9525">
            <a:solidFill>
              <a:srgbClr val="232AA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b="1" lang="en" sz="900">
                <a:solidFill>
                  <a:srgbClr val="FFFFFF"/>
                </a:solidFill>
                <a:latin typeface="Sora"/>
                <a:ea typeface="Sora"/>
                <a:cs typeface="Sora"/>
                <a:sym typeface="Sora"/>
              </a:rPr>
              <a:t>CTA:</a:t>
            </a:r>
            <a:endParaRPr b="1" sz="900">
              <a:solidFill>
                <a:srgbClr val="FFFFFF"/>
              </a:solidFill>
              <a:latin typeface="Sora"/>
              <a:ea typeface="Sora"/>
              <a:cs typeface="Sora"/>
              <a:sym typeface="Sora"/>
            </a:endParaRPr>
          </a:p>
          <a:p>
            <a:pPr indent="0" lvl="0" marL="0" rtl="0" algn="ctr">
              <a:spcBef>
                <a:spcPts val="0"/>
              </a:spcBef>
              <a:spcAft>
                <a:spcPts val="0"/>
              </a:spcAft>
              <a:buNone/>
            </a:pPr>
            <a:r>
              <a:rPr lang="en" sz="900">
                <a:solidFill>
                  <a:srgbClr val="FFFFFF"/>
                </a:solidFill>
                <a:latin typeface="Sora"/>
                <a:ea typeface="Sora"/>
                <a:cs typeface="Sora"/>
                <a:sym typeface="Sora"/>
              </a:rPr>
              <a:t>Explore Insights</a:t>
            </a:r>
            <a:endParaRPr sz="900">
              <a:solidFill>
                <a:srgbClr val="FFFFFF"/>
              </a:solidFill>
              <a:latin typeface="Sora"/>
              <a:ea typeface="Sora"/>
              <a:cs typeface="Sora"/>
              <a:sym typeface="Sora"/>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 name="Shape 122"/>
        <p:cNvGrpSpPr/>
        <p:nvPr/>
      </p:nvGrpSpPr>
      <p:grpSpPr>
        <a:xfrm>
          <a:off x="0" y="0"/>
          <a:ext cx="0" cy="0"/>
          <a:chOff x="0" y="0"/>
          <a:chExt cx="0" cy="0"/>
        </a:xfrm>
      </p:grpSpPr>
      <p:pic>
        <p:nvPicPr>
          <p:cNvPr id="123" name="Google Shape;123;p18" title="artistic-blurry-colorful-wallpaper-background.jpg"/>
          <p:cNvPicPr preferRelativeResize="0"/>
          <p:nvPr/>
        </p:nvPicPr>
        <p:blipFill>
          <a:blip r:embed="rId3">
            <a:alphaModFix/>
          </a:blip>
          <a:stretch>
            <a:fillRect/>
          </a:stretch>
        </p:blipFill>
        <p:spPr>
          <a:xfrm>
            <a:off x="0" y="0"/>
            <a:ext cx="9144003" cy="342902"/>
          </a:xfrm>
          <a:prstGeom prst="rect">
            <a:avLst/>
          </a:prstGeom>
          <a:noFill/>
          <a:ln>
            <a:noFill/>
          </a:ln>
        </p:spPr>
      </p:pic>
      <p:pic>
        <p:nvPicPr>
          <p:cNvPr id="124" name="Google Shape;124;p18" title="kepiai_LOGO_WHITE.png"/>
          <p:cNvPicPr preferRelativeResize="0"/>
          <p:nvPr/>
        </p:nvPicPr>
        <p:blipFill>
          <a:blip r:embed="rId4">
            <a:alphaModFix/>
          </a:blip>
          <a:stretch>
            <a:fillRect/>
          </a:stretch>
        </p:blipFill>
        <p:spPr>
          <a:xfrm>
            <a:off x="126807" y="50212"/>
            <a:ext cx="847452" cy="242475"/>
          </a:xfrm>
          <a:prstGeom prst="rect">
            <a:avLst/>
          </a:prstGeom>
          <a:noFill/>
          <a:ln>
            <a:noFill/>
          </a:ln>
        </p:spPr>
      </p:pic>
      <p:sp>
        <p:nvSpPr>
          <p:cNvPr id="125" name="Google Shape;125;p18"/>
          <p:cNvSpPr/>
          <p:nvPr/>
        </p:nvSpPr>
        <p:spPr>
          <a:xfrm>
            <a:off x="1094025" y="59000"/>
            <a:ext cx="6465300" cy="234900"/>
          </a:xfrm>
          <a:prstGeom prst="roundRect">
            <a:avLst>
              <a:gd fmla="val 50000" name="adj"/>
            </a:avLst>
          </a:prstGeom>
          <a:noFill/>
          <a:ln cap="flat" cmpd="sng" w="9525">
            <a:solidFill>
              <a:srgbClr val="FFF7E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700">
                <a:solidFill>
                  <a:schemeClr val="lt1"/>
                </a:solidFill>
                <a:latin typeface="Sora"/>
                <a:ea typeface="Sora"/>
                <a:cs typeface="Sora"/>
                <a:sym typeface="Sora"/>
              </a:rPr>
              <a:t>WELCOME PAGE: DETAILED SECTION 1 REVISION BRIEF</a:t>
            </a:r>
            <a:endParaRPr b="1" sz="700">
              <a:solidFill>
                <a:srgbClr val="FFFFFF"/>
              </a:solidFill>
              <a:latin typeface="Sora"/>
              <a:ea typeface="Sora"/>
              <a:cs typeface="Sora"/>
              <a:sym typeface="Sora"/>
            </a:endParaRPr>
          </a:p>
        </p:txBody>
      </p:sp>
      <p:sp>
        <p:nvSpPr>
          <p:cNvPr id="126" name="Google Shape;126;p18"/>
          <p:cNvSpPr txBox="1"/>
          <p:nvPr/>
        </p:nvSpPr>
        <p:spPr>
          <a:xfrm>
            <a:off x="7272518" y="45291"/>
            <a:ext cx="1822500" cy="252300"/>
          </a:xfrm>
          <a:prstGeom prst="rect">
            <a:avLst/>
          </a:prstGeom>
          <a:noFill/>
          <a:ln>
            <a:noFill/>
          </a:ln>
        </p:spPr>
        <p:txBody>
          <a:bodyPr anchorCtr="0" anchor="t" bIns="91425" lIns="0" spcFirstLastPara="1" rIns="91425" wrap="square" tIns="91425">
            <a:spAutoFit/>
          </a:bodyPr>
          <a:lstStyle/>
          <a:p>
            <a:pPr indent="0" lvl="0" marL="0" rtl="0" algn="r">
              <a:lnSpc>
                <a:spcPct val="80000"/>
              </a:lnSpc>
              <a:spcBef>
                <a:spcPts val="0"/>
              </a:spcBef>
              <a:spcAft>
                <a:spcPts val="0"/>
              </a:spcAft>
              <a:buNone/>
            </a:pPr>
            <a:r>
              <a:rPr lang="en" sz="550">
                <a:solidFill>
                  <a:srgbClr val="FFFFFF"/>
                </a:solidFill>
                <a:latin typeface="Plus Jakarta Sans ExtraBold"/>
                <a:ea typeface="Plus Jakarta Sans ExtraBold"/>
                <a:cs typeface="Plus Jakarta Sans ExtraBold"/>
                <a:sym typeface="Plus Jakarta Sans ExtraBold"/>
              </a:rPr>
              <a:t>TOOLS WEBPAGE REVISION GUIDELINE</a:t>
            </a:r>
            <a:endParaRPr sz="550">
              <a:solidFill>
                <a:srgbClr val="FFFFFF"/>
              </a:solidFill>
              <a:latin typeface="Plus Jakarta Sans ExtraBold"/>
              <a:ea typeface="Plus Jakarta Sans ExtraBold"/>
              <a:cs typeface="Plus Jakarta Sans ExtraBold"/>
              <a:sym typeface="Plus Jakarta Sans ExtraBold"/>
            </a:endParaRPr>
          </a:p>
        </p:txBody>
      </p:sp>
      <p:pic>
        <p:nvPicPr>
          <p:cNvPr id="127" name="Google Shape;127;p18"/>
          <p:cNvPicPr preferRelativeResize="0"/>
          <p:nvPr/>
        </p:nvPicPr>
        <p:blipFill>
          <a:blip r:embed="rId5">
            <a:alphaModFix/>
          </a:blip>
          <a:stretch>
            <a:fillRect/>
          </a:stretch>
        </p:blipFill>
        <p:spPr>
          <a:xfrm>
            <a:off x="67113" y="391400"/>
            <a:ext cx="6125926" cy="3478725"/>
          </a:xfrm>
          <a:prstGeom prst="rect">
            <a:avLst/>
          </a:prstGeom>
          <a:noFill/>
          <a:ln>
            <a:noFill/>
          </a:ln>
          <a:effectLst>
            <a:outerShdw blurRad="57150" rotWithShape="0" algn="bl" dir="5400000" dist="19050">
              <a:srgbClr val="000000">
                <a:alpha val="50000"/>
              </a:srgbClr>
            </a:outerShdw>
          </a:effectLst>
        </p:spPr>
      </p:pic>
      <p:sp>
        <p:nvSpPr>
          <p:cNvPr id="128" name="Google Shape;128;p18"/>
          <p:cNvSpPr/>
          <p:nvPr/>
        </p:nvSpPr>
        <p:spPr>
          <a:xfrm>
            <a:off x="67115" y="815475"/>
            <a:ext cx="1283400" cy="1307400"/>
          </a:xfrm>
          <a:prstGeom prst="rect">
            <a:avLst/>
          </a:prstGeom>
          <a:noFill/>
          <a:ln cap="flat" cmpd="sng" w="2857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29" name="Google Shape;129;p18"/>
          <p:cNvSpPr/>
          <p:nvPr/>
        </p:nvSpPr>
        <p:spPr>
          <a:xfrm>
            <a:off x="219515" y="2474550"/>
            <a:ext cx="1283400" cy="1307400"/>
          </a:xfrm>
          <a:prstGeom prst="rect">
            <a:avLst/>
          </a:prstGeom>
          <a:noFill/>
          <a:ln cap="flat" cmpd="sng" w="2857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30" name="Google Shape;130;p18"/>
          <p:cNvSpPr/>
          <p:nvPr/>
        </p:nvSpPr>
        <p:spPr>
          <a:xfrm>
            <a:off x="4675501" y="815475"/>
            <a:ext cx="1437900" cy="1307400"/>
          </a:xfrm>
          <a:prstGeom prst="rect">
            <a:avLst/>
          </a:prstGeom>
          <a:noFill/>
          <a:ln cap="flat" cmpd="sng" w="2857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31" name="Google Shape;131;p18"/>
          <p:cNvSpPr/>
          <p:nvPr/>
        </p:nvSpPr>
        <p:spPr>
          <a:xfrm>
            <a:off x="4675501" y="2474550"/>
            <a:ext cx="1437900" cy="1307400"/>
          </a:xfrm>
          <a:prstGeom prst="rect">
            <a:avLst/>
          </a:prstGeom>
          <a:noFill/>
          <a:ln cap="flat" cmpd="sng" w="2857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32" name="Google Shape;132;p18"/>
          <p:cNvSpPr/>
          <p:nvPr/>
        </p:nvSpPr>
        <p:spPr>
          <a:xfrm>
            <a:off x="2838950" y="1281525"/>
            <a:ext cx="582300" cy="462900"/>
          </a:xfrm>
          <a:prstGeom prst="rect">
            <a:avLst/>
          </a:prstGeom>
          <a:noFill/>
          <a:ln cap="flat" cmpd="sng" w="2857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33" name="Google Shape;133;p18"/>
          <p:cNvSpPr/>
          <p:nvPr/>
        </p:nvSpPr>
        <p:spPr>
          <a:xfrm>
            <a:off x="3279638" y="1063125"/>
            <a:ext cx="310200" cy="310200"/>
          </a:xfrm>
          <a:prstGeom prst="ellipse">
            <a:avLst/>
          </a:prstGeom>
          <a:solidFill>
            <a:srgbClr val="FF0000"/>
          </a:solidFill>
          <a:ln cap="flat" cmpd="sng" w="9525">
            <a:solidFill>
              <a:srgbClr val="232AAC"/>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b="1" lang="en" sz="2400">
                <a:solidFill>
                  <a:srgbClr val="FFFFFF"/>
                </a:solidFill>
                <a:latin typeface="Sora"/>
                <a:ea typeface="Sora"/>
                <a:cs typeface="Sora"/>
                <a:sym typeface="Sora"/>
              </a:rPr>
              <a:t>1</a:t>
            </a:r>
            <a:endParaRPr b="1" sz="2400">
              <a:solidFill>
                <a:srgbClr val="FFFFFF"/>
              </a:solidFill>
              <a:latin typeface="Sora"/>
              <a:ea typeface="Sora"/>
              <a:cs typeface="Sora"/>
              <a:sym typeface="Sora"/>
            </a:endParaRPr>
          </a:p>
        </p:txBody>
      </p:sp>
      <p:sp>
        <p:nvSpPr>
          <p:cNvPr id="134" name="Google Shape;134;p18"/>
          <p:cNvSpPr/>
          <p:nvPr/>
        </p:nvSpPr>
        <p:spPr>
          <a:xfrm>
            <a:off x="6357250" y="547025"/>
            <a:ext cx="2737800" cy="1063500"/>
          </a:xfrm>
          <a:prstGeom prst="roundRect">
            <a:avLst>
              <a:gd fmla="val 5262" name="adj"/>
            </a:avLst>
          </a:prstGeom>
          <a:solidFill>
            <a:srgbClr val="FF0000"/>
          </a:solidFill>
          <a:ln cap="flat" cmpd="sng" w="9525">
            <a:solidFill>
              <a:srgbClr val="232AA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a:solidFill>
                  <a:srgbClr val="FFFFFF"/>
                </a:solidFill>
                <a:latin typeface="Sora"/>
                <a:ea typeface="Sora"/>
                <a:cs typeface="Sora"/>
                <a:sym typeface="Sora"/>
              </a:rPr>
              <a:t>The logo appears slightly cropped. Please adjust its size and positioning to make it more proportional.</a:t>
            </a:r>
            <a:endParaRPr b="1">
              <a:solidFill>
                <a:srgbClr val="FFFFFF"/>
              </a:solidFill>
              <a:latin typeface="Sora"/>
              <a:ea typeface="Sora"/>
              <a:cs typeface="Sora"/>
              <a:sym typeface="Sora"/>
            </a:endParaRPr>
          </a:p>
        </p:txBody>
      </p:sp>
      <p:sp>
        <p:nvSpPr>
          <p:cNvPr id="135" name="Google Shape;135;p18"/>
          <p:cNvSpPr/>
          <p:nvPr/>
        </p:nvSpPr>
        <p:spPr>
          <a:xfrm>
            <a:off x="8737025" y="595525"/>
            <a:ext cx="310200" cy="310200"/>
          </a:xfrm>
          <a:prstGeom prst="ellipse">
            <a:avLst/>
          </a:prstGeom>
          <a:solidFill>
            <a:srgbClr val="FF0000"/>
          </a:solidFill>
          <a:ln cap="flat" cmpd="sng" w="9525">
            <a:solidFill>
              <a:srgbClr val="232AAC"/>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b="1" lang="en" sz="2400">
                <a:solidFill>
                  <a:srgbClr val="FFFFFF"/>
                </a:solidFill>
                <a:latin typeface="Sora"/>
                <a:ea typeface="Sora"/>
                <a:cs typeface="Sora"/>
                <a:sym typeface="Sora"/>
              </a:rPr>
              <a:t>1</a:t>
            </a:r>
            <a:endParaRPr b="1" sz="2400">
              <a:solidFill>
                <a:srgbClr val="FFFFFF"/>
              </a:solidFill>
              <a:latin typeface="Sora"/>
              <a:ea typeface="Sora"/>
              <a:cs typeface="Sora"/>
              <a:sym typeface="Sora"/>
            </a:endParaRPr>
          </a:p>
        </p:txBody>
      </p:sp>
      <p:sp>
        <p:nvSpPr>
          <p:cNvPr id="136" name="Google Shape;136;p18"/>
          <p:cNvSpPr/>
          <p:nvPr/>
        </p:nvSpPr>
        <p:spPr>
          <a:xfrm>
            <a:off x="5882838" y="752925"/>
            <a:ext cx="310200" cy="310200"/>
          </a:xfrm>
          <a:prstGeom prst="ellipse">
            <a:avLst/>
          </a:prstGeom>
          <a:solidFill>
            <a:srgbClr val="FF0000"/>
          </a:solidFill>
          <a:ln cap="flat" cmpd="sng" w="9525">
            <a:solidFill>
              <a:srgbClr val="232AAC"/>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b="1" lang="en" sz="2400">
                <a:solidFill>
                  <a:srgbClr val="FFFFFF"/>
                </a:solidFill>
                <a:latin typeface="Sora"/>
                <a:ea typeface="Sora"/>
                <a:cs typeface="Sora"/>
                <a:sym typeface="Sora"/>
              </a:rPr>
              <a:t>2</a:t>
            </a:r>
            <a:endParaRPr b="1" sz="2400">
              <a:solidFill>
                <a:srgbClr val="FFFFFF"/>
              </a:solidFill>
              <a:latin typeface="Sora"/>
              <a:ea typeface="Sora"/>
              <a:cs typeface="Sora"/>
              <a:sym typeface="Sora"/>
            </a:endParaRPr>
          </a:p>
        </p:txBody>
      </p:sp>
      <p:sp>
        <p:nvSpPr>
          <p:cNvPr id="137" name="Google Shape;137;p18"/>
          <p:cNvSpPr/>
          <p:nvPr/>
        </p:nvSpPr>
        <p:spPr>
          <a:xfrm>
            <a:off x="6357250" y="1677900"/>
            <a:ext cx="2737800" cy="462900"/>
          </a:xfrm>
          <a:prstGeom prst="roundRect">
            <a:avLst>
              <a:gd fmla="val 5262" name="adj"/>
            </a:avLst>
          </a:prstGeom>
          <a:solidFill>
            <a:srgbClr val="FF0000"/>
          </a:solidFill>
          <a:ln cap="flat" cmpd="sng" w="9525">
            <a:solidFill>
              <a:srgbClr val="232AA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a:solidFill>
                  <a:srgbClr val="FFFFFF"/>
                </a:solidFill>
                <a:latin typeface="Sora"/>
                <a:ea typeface="Sora"/>
                <a:cs typeface="Sora"/>
                <a:sym typeface="Sora"/>
              </a:rPr>
              <a:t>Stay as is</a:t>
            </a:r>
            <a:endParaRPr b="1">
              <a:solidFill>
                <a:srgbClr val="FFFFFF"/>
              </a:solidFill>
              <a:latin typeface="Sora"/>
              <a:ea typeface="Sora"/>
              <a:cs typeface="Sora"/>
              <a:sym typeface="Sora"/>
            </a:endParaRPr>
          </a:p>
        </p:txBody>
      </p:sp>
      <p:sp>
        <p:nvSpPr>
          <p:cNvPr id="138" name="Google Shape;138;p18"/>
          <p:cNvSpPr/>
          <p:nvPr/>
        </p:nvSpPr>
        <p:spPr>
          <a:xfrm>
            <a:off x="8737025" y="1726400"/>
            <a:ext cx="310200" cy="310200"/>
          </a:xfrm>
          <a:prstGeom prst="ellipse">
            <a:avLst/>
          </a:prstGeom>
          <a:solidFill>
            <a:srgbClr val="FF0000"/>
          </a:solidFill>
          <a:ln cap="flat" cmpd="sng" w="9525">
            <a:solidFill>
              <a:srgbClr val="232AAC"/>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b="1" lang="en" sz="2400">
                <a:solidFill>
                  <a:srgbClr val="FFFFFF"/>
                </a:solidFill>
                <a:latin typeface="Sora"/>
                <a:ea typeface="Sora"/>
                <a:cs typeface="Sora"/>
                <a:sym typeface="Sora"/>
              </a:rPr>
              <a:t>2</a:t>
            </a:r>
            <a:endParaRPr b="1" sz="2400">
              <a:solidFill>
                <a:srgbClr val="FFFFFF"/>
              </a:solidFill>
              <a:latin typeface="Sora"/>
              <a:ea typeface="Sora"/>
              <a:cs typeface="Sora"/>
              <a:sym typeface="Sora"/>
            </a:endParaRPr>
          </a:p>
        </p:txBody>
      </p:sp>
      <p:sp>
        <p:nvSpPr>
          <p:cNvPr id="139" name="Google Shape;139;p18"/>
          <p:cNvSpPr/>
          <p:nvPr/>
        </p:nvSpPr>
        <p:spPr>
          <a:xfrm>
            <a:off x="1192713" y="752925"/>
            <a:ext cx="310200" cy="310200"/>
          </a:xfrm>
          <a:prstGeom prst="ellipse">
            <a:avLst/>
          </a:prstGeom>
          <a:solidFill>
            <a:srgbClr val="FF0000"/>
          </a:solidFill>
          <a:ln cap="flat" cmpd="sng" w="9525">
            <a:solidFill>
              <a:srgbClr val="232AAC"/>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b="1" lang="en" sz="2400">
                <a:solidFill>
                  <a:srgbClr val="FFFFFF"/>
                </a:solidFill>
                <a:latin typeface="Sora"/>
                <a:ea typeface="Sora"/>
                <a:cs typeface="Sora"/>
                <a:sym typeface="Sora"/>
              </a:rPr>
              <a:t>3</a:t>
            </a:r>
            <a:endParaRPr b="1" sz="2400">
              <a:solidFill>
                <a:srgbClr val="FFFFFF"/>
              </a:solidFill>
              <a:latin typeface="Sora"/>
              <a:ea typeface="Sora"/>
              <a:cs typeface="Sora"/>
              <a:sym typeface="Sora"/>
            </a:endParaRPr>
          </a:p>
        </p:txBody>
      </p:sp>
      <p:sp>
        <p:nvSpPr>
          <p:cNvPr id="140" name="Google Shape;140;p18"/>
          <p:cNvSpPr/>
          <p:nvPr/>
        </p:nvSpPr>
        <p:spPr>
          <a:xfrm>
            <a:off x="6357250" y="2208175"/>
            <a:ext cx="2737800" cy="1662000"/>
          </a:xfrm>
          <a:prstGeom prst="roundRect">
            <a:avLst>
              <a:gd fmla="val 5262" name="adj"/>
            </a:avLst>
          </a:prstGeom>
          <a:solidFill>
            <a:srgbClr val="FF0000"/>
          </a:solidFill>
          <a:ln cap="flat" cmpd="sng" w="9525">
            <a:solidFill>
              <a:srgbClr val="232AA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a:solidFill>
                  <a:srgbClr val="FFFFFF"/>
                </a:solidFill>
                <a:latin typeface="Sora"/>
                <a:ea typeface="Sora"/>
                <a:cs typeface="Sora"/>
                <a:sym typeface="Sora"/>
              </a:rPr>
              <a:t>Please add relevant</a:t>
            </a:r>
            <a:endParaRPr>
              <a:solidFill>
                <a:srgbClr val="FFFFFF"/>
              </a:solidFill>
              <a:latin typeface="Sora"/>
              <a:ea typeface="Sora"/>
              <a:cs typeface="Sora"/>
              <a:sym typeface="Sora"/>
            </a:endParaRPr>
          </a:p>
          <a:p>
            <a:pPr indent="0" lvl="0" marL="0" rtl="0" algn="l">
              <a:spcBef>
                <a:spcPts val="0"/>
              </a:spcBef>
              <a:spcAft>
                <a:spcPts val="0"/>
              </a:spcAft>
              <a:buNone/>
            </a:pPr>
            <a:r>
              <a:rPr lang="en">
                <a:solidFill>
                  <a:srgbClr val="FFFFFF"/>
                </a:solidFill>
                <a:latin typeface="Sora"/>
                <a:ea typeface="Sora"/>
                <a:cs typeface="Sora"/>
                <a:sym typeface="Sora"/>
              </a:rPr>
              <a:t>visual elements that effectively represent the Report Automation Generator, making the concept more intuitive and visually engaging.</a:t>
            </a:r>
            <a:endParaRPr b="1">
              <a:solidFill>
                <a:srgbClr val="FFFFFF"/>
              </a:solidFill>
              <a:latin typeface="Sora"/>
              <a:ea typeface="Sora"/>
              <a:cs typeface="Sora"/>
              <a:sym typeface="Sora"/>
            </a:endParaRPr>
          </a:p>
        </p:txBody>
      </p:sp>
      <p:sp>
        <p:nvSpPr>
          <p:cNvPr id="141" name="Google Shape;141;p18"/>
          <p:cNvSpPr/>
          <p:nvPr/>
        </p:nvSpPr>
        <p:spPr>
          <a:xfrm>
            <a:off x="8737025" y="2256675"/>
            <a:ext cx="310200" cy="310200"/>
          </a:xfrm>
          <a:prstGeom prst="ellipse">
            <a:avLst/>
          </a:prstGeom>
          <a:solidFill>
            <a:srgbClr val="FF0000"/>
          </a:solidFill>
          <a:ln cap="flat" cmpd="sng" w="9525">
            <a:solidFill>
              <a:srgbClr val="232AAC"/>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b="1" lang="en" sz="2400">
                <a:solidFill>
                  <a:srgbClr val="FFFFFF"/>
                </a:solidFill>
                <a:latin typeface="Sora"/>
                <a:ea typeface="Sora"/>
                <a:cs typeface="Sora"/>
                <a:sym typeface="Sora"/>
              </a:rPr>
              <a:t>3</a:t>
            </a:r>
            <a:endParaRPr b="1" sz="2400">
              <a:solidFill>
                <a:srgbClr val="FFFFFF"/>
              </a:solidFill>
              <a:latin typeface="Sora"/>
              <a:ea typeface="Sora"/>
              <a:cs typeface="Sora"/>
              <a:sym typeface="Sora"/>
            </a:endParaRPr>
          </a:p>
        </p:txBody>
      </p:sp>
      <p:sp>
        <p:nvSpPr>
          <p:cNvPr id="142" name="Google Shape;142;p18"/>
          <p:cNvSpPr/>
          <p:nvPr/>
        </p:nvSpPr>
        <p:spPr>
          <a:xfrm>
            <a:off x="67125" y="3918625"/>
            <a:ext cx="4461000" cy="1186200"/>
          </a:xfrm>
          <a:prstGeom prst="roundRect">
            <a:avLst>
              <a:gd fmla="val 5262" name="adj"/>
            </a:avLst>
          </a:prstGeom>
          <a:solidFill>
            <a:srgbClr val="FF0000"/>
          </a:solidFill>
          <a:ln cap="flat" cmpd="sng" w="9525">
            <a:solidFill>
              <a:srgbClr val="232AA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a:solidFill>
                  <a:srgbClr val="FFFFFF"/>
                </a:solidFill>
                <a:latin typeface="Sora"/>
                <a:ea typeface="Sora"/>
                <a:cs typeface="Sora"/>
                <a:sym typeface="Sora"/>
              </a:rPr>
              <a:t>Please add relevant visual elements that effectively represent the </a:t>
            </a:r>
            <a:r>
              <a:rPr lang="en">
                <a:solidFill>
                  <a:srgbClr val="FFFFFF"/>
                </a:solidFill>
                <a:latin typeface="Sora"/>
                <a:ea typeface="Sora"/>
                <a:cs typeface="Sora"/>
                <a:sym typeface="Sora"/>
              </a:rPr>
              <a:t>Comment Relevance Analysis</a:t>
            </a:r>
            <a:r>
              <a:rPr lang="en">
                <a:solidFill>
                  <a:srgbClr val="FFFFFF"/>
                </a:solidFill>
                <a:latin typeface="Sora"/>
                <a:ea typeface="Sora"/>
                <a:cs typeface="Sora"/>
                <a:sym typeface="Sora"/>
              </a:rPr>
              <a:t>, making the concept more intuitive and visually engaging.</a:t>
            </a:r>
            <a:endParaRPr b="1">
              <a:solidFill>
                <a:srgbClr val="FFFFFF"/>
              </a:solidFill>
              <a:latin typeface="Sora"/>
              <a:ea typeface="Sora"/>
              <a:cs typeface="Sora"/>
              <a:sym typeface="Sora"/>
            </a:endParaRPr>
          </a:p>
        </p:txBody>
      </p:sp>
      <p:sp>
        <p:nvSpPr>
          <p:cNvPr id="143" name="Google Shape;143;p18"/>
          <p:cNvSpPr/>
          <p:nvPr/>
        </p:nvSpPr>
        <p:spPr>
          <a:xfrm>
            <a:off x="4171575" y="3967625"/>
            <a:ext cx="310200" cy="310200"/>
          </a:xfrm>
          <a:prstGeom prst="ellipse">
            <a:avLst/>
          </a:prstGeom>
          <a:solidFill>
            <a:srgbClr val="FF0000"/>
          </a:solidFill>
          <a:ln cap="flat" cmpd="sng" w="9525">
            <a:solidFill>
              <a:srgbClr val="232AAC"/>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b="1" lang="en" sz="2400">
                <a:solidFill>
                  <a:srgbClr val="FFFFFF"/>
                </a:solidFill>
                <a:latin typeface="Sora"/>
                <a:ea typeface="Sora"/>
                <a:cs typeface="Sora"/>
                <a:sym typeface="Sora"/>
              </a:rPr>
              <a:t>4</a:t>
            </a:r>
            <a:endParaRPr b="1" sz="2400">
              <a:solidFill>
                <a:srgbClr val="FFFFFF"/>
              </a:solidFill>
              <a:latin typeface="Sora"/>
              <a:ea typeface="Sora"/>
              <a:cs typeface="Sora"/>
              <a:sym typeface="Sora"/>
            </a:endParaRPr>
          </a:p>
        </p:txBody>
      </p:sp>
      <p:sp>
        <p:nvSpPr>
          <p:cNvPr id="144" name="Google Shape;144;p18"/>
          <p:cNvSpPr/>
          <p:nvPr/>
        </p:nvSpPr>
        <p:spPr>
          <a:xfrm>
            <a:off x="1301813" y="2377375"/>
            <a:ext cx="310200" cy="310200"/>
          </a:xfrm>
          <a:prstGeom prst="ellipse">
            <a:avLst/>
          </a:prstGeom>
          <a:solidFill>
            <a:srgbClr val="FF0000"/>
          </a:solidFill>
          <a:ln cap="flat" cmpd="sng" w="9525">
            <a:solidFill>
              <a:srgbClr val="232AAC"/>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b="1" lang="en" sz="2400">
                <a:solidFill>
                  <a:srgbClr val="FFFFFF"/>
                </a:solidFill>
                <a:latin typeface="Sora"/>
                <a:ea typeface="Sora"/>
                <a:cs typeface="Sora"/>
                <a:sym typeface="Sora"/>
              </a:rPr>
              <a:t>4</a:t>
            </a:r>
            <a:endParaRPr b="1" sz="2400">
              <a:solidFill>
                <a:srgbClr val="FFFFFF"/>
              </a:solidFill>
              <a:latin typeface="Sora"/>
              <a:ea typeface="Sora"/>
              <a:cs typeface="Sora"/>
              <a:sym typeface="Sora"/>
            </a:endParaRPr>
          </a:p>
        </p:txBody>
      </p:sp>
      <p:sp>
        <p:nvSpPr>
          <p:cNvPr id="145" name="Google Shape;145;p18"/>
          <p:cNvSpPr/>
          <p:nvPr/>
        </p:nvSpPr>
        <p:spPr>
          <a:xfrm>
            <a:off x="4586220" y="3937550"/>
            <a:ext cx="4461000" cy="1186200"/>
          </a:xfrm>
          <a:prstGeom prst="roundRect">
            <a:avLst>
              <a:gd fmla="val 5262" name="adj"/>
            </a:avLst>
          </a:prstGeom>
          <a:solidFill>
            <a:srgbClr val="FF0000"/>
          </a:solidFill>
          <a:ln cap="flat" cmpd="sng" w="9525">
            <a:solidFill>
              <a:srgbClr val="232AA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a:solidFill>
                  <a:srgbClr val="FFFFFF"/>
                </a:solidFill>
                <a:latin typeface="Sora"/>
                <a:ea typeface="Sora"/>
                <a:cs typeface="Sora"/>
                <a:sym typeface="Sora"/>
              </a:rPr>
              <a:t>Please add relevant visual elements that effectively represent the </a:t>
            </a:r>
            <a:r>
              <a:rPr lang="en">
                <a:solidFill>
                  <a:srgbClr val="FFFFFF"/>
                </a:solidFill>
                <a:latin typeface="Sora"/>
                <a:ea typeface="Sora"/>
                <a:cs typeface="Sora"/>
                <a:sym typeface="Sora"/>
              </a:rPr>
              <a:t>Top Commenters — Community Leaderboard</a:t>
            </a:r>
            <a:r>
              <a:rPr lang="en">
                <a:solidFill>
                  <a:srgbClr val="FFFFFF"/>
                </a:solidFill>
                <a:latin typeface="Sora"/>
                <a:ea typeface="Sora"/>
                <a:cs typeface="Sora"/>
                <a:sym typeface="Sora"/>
              </a:rPr>
              <a:t>, making the concept more intuitive and visually engaging.</a:t>
            </a:r>
            <a:endParaRPr b="1">
              <a:solidFill>
                <a:srgbClr val="FFFFFF"/>
              </a:solidFill>
              <a:latin typeface="Sora"/>
              <a:ea typeface="Sora"/>
              <a:cs typeface="Sora"/>
              <a:sym typeface="Sora"/>
            </a:endParaRPr>
          </a:p>
        </p:txBody>
      </p:sp>
      <p:sp>
        <p:nvSpPr>
          <p:cNvPr id="146" name="Google Shape;146;p18"/>
          <p:cNvSpPr/>
          <p:nvPr/>
        </p:nvSpPr>
        <p:spPr>
          <a:xfrm>
            <a:off x="8685700" y="3967625"/>
            <a:ext cx="310200" cy="310200"/>
          </a:xfrm>
          <a:prstGeom prst="ellipse">
            <a:avLst/>
          </a:prstGeom>
          <a:solidFill>
            <a:srgbClr val="FF0000"/>
          </a:solidFill>
          <a:ln cap="flat" cmpd="sng" w="9525">
            <a:solidFill>
              <a:srgbClr val="232AAC"/>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b="1" lang="en" sz="2400">
                <a:solidFill>
                  <a:srgbClr val="FFFFFF"/>
                </a:solidFill>
                <a:latin typeface="Sora"/>
                <a:ea typeface="Sora"/>
                <a:cs typeface="Sora"/>
                <a:sym typeface="Sora"/>
              </a:rPr>
              <a:t>5</a:t>
            </a:r>
            <a:endParaRPr b="1" sz="2400">
              <a:solidFill>
                <a:srgbClr val="FFFFFF"/>
              </a:solidFill>
              <a:latin typeface="Sora"/>
              <a:ea typeface="Sora"/>
              <a:cs typeface="Sora"/>
              <a:sym typeface="Sora"/>
            </a:endParaRPr>
          </a:p>
        </p:txBody>
      </p:sp>
      <p:sp>
        <p:nvSpPr>
          <p:cNvPr id="147" name="Google Shape;147;p18"/>
          <p:cNvSpPr/>
          <p:nvPr/>
        </p:nvSpPr>
        <p:spPr>
          <a:xfrm>
            <a:off x="5749113" y="2529775"/>
            <a:ext cx="310200" cy="310200"/>
          </a:xfrm>
          <a:prstGeom prst="ellipse">
            <a:avLst/>
          </a:prstGeom>
          <a:solidFill>
            <a:srgbClr val="FF0000"/>
          </a:solidFill>
          <a:ln cap="flat" cmpd="sng" w="9525">
            <a:solidFill>
              <a:srgbClr val="232AAC"/>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b="1" lang="en" sz="2400">
                <a:solidFill>
                  <a:srgbClr val="FFFFFF"/>
                </a:solidFill>
                <a:latin typeface="Sora"/>
                <a:ea typeface="Sora"/>
                <a:cs typeface="Sora"/>
                <a:sym typeface="Sora"/>
              </a:rPr>
              <a:t>5</a:t>
            </a:r>
            <a:endParaRPr b="1" sz="2400">
              <a:solidFill>
                <a:srgbClr val="FFFFFF"/>
              </a:solidFill>
              <a:latin typeface="Sora"/>
              <a:ea typeface="Sora"/>
              <a:cs typeface="Sora"/>
              <a:sym typeface="Sora"/>
            </a:endParaRPr>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